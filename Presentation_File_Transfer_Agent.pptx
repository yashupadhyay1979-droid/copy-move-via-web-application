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Welcome everyone. Today I'm excited to present the File Transfer Agent project. Historically, moving large files on a computer forced users into a painful choice: either use rigid, traditional desktop file explorers or deal with slow web applications that buffer gigabytes of files into browser memory and crash. This project bridges that gap by pairing a high-speed local Node.js streaming daemon with an elegant React web frontend, connected in real-time over WebSockets.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Let's look at why this project matters. Traditional web applications are completely unsuitable for transferring multi-gigabyte files locally because they attempt to buffer data into browser RAM. Meanwhile, native OS dialogs often lack fine-grained queue controls, live speed calculations, and conflict resolution policies. By separating the user interface from the disk I/O engine, we achieve lightning-fast direct disk transfers without touching browser memory.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the Venn diagram that captures the unique value proposition of our project. At the top left, we have the modern web experience: visual responsiveness, beautiful dark mode, and progress animations. At the top right, we have native filesystem performance: direct streaming that handles terabyte files with only 30MB of RAM. At the bottom, we have zero-trust security: 127.0.0.1 localhost binding and bearer token authentication. Our File Transfer Agent sits right at the center where all three requirements intersect.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the architectural breakdown. Notice how clean and decoupled this is: On the left, the React frontend runs on localhost:5173. It acts strictly as an input and visualization layer. In the middle, a persistent WebSocket connection on port 3456 provides full-duplex communication with negligible latency. On the right, the local Node.js daemon executes the disk transfers. At no point do file bytes travel through the browser or over the network. Only lightweight control messages and progress metrics are passed.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Let's trace the exact 5-step operational lifecycle of a transfer. First, when the app boots, the client performs an authenticated handshake using the token. Second, the user specifies the source and destination paths—either by typing, dragging and dropping, or opening the native folder picker modal. Third, the pre-flight scan tallies up total bytes and files. Fourth, the transfer engine streams the data in 64-kilobyte chunks directly on the disk. Fifth, bi-directional events send back instant speed calculations, ETAs, and progress bars to the user.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are the core functional pillars of the application. Beyond just copying files, the agent gives users complete control: they can choose whether to Copy or Move, handle existing file collisions smoothly with three distinct conflict policies, monitor active transfer speeds and ETAs, browse directories right inside the web UI, and queue multiple jobs at once with concurrency throttling to prevent disk thrashing.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Data safety is paramount in any file system tool. File Transfer Agent provides three clear conflict resolution strategies: Auto-Rename, which safely appends suffixes like '_copy'; Overwrite, which replaces destination files; and Skip, which accelerates transfers by avoiding redundant writes. Users can set their preference globally or decide on a case-by-case basis through the interactive modal.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Security is a major concern when web browsers interface with local file systems. We implement four strict defense layers: First, loopback binding ensures the daemon only accepts local connections. Second, a 32-character authentication token prevents unauthorized web pages from sending commands. Third, path whitelisting locks down access to specified directories. And fourth, file content never traverses the network—it stays purely on the local storage bus.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Let's look at the computer science behind why this engine is so fast. Standard buffer-based file handling suffers from O(N) memory scaling. Loading a 10 GB file requires 10 GB of system RAM, which triggers aggressive garbage collection and causes crashes. Our engine uses chunked Node.js streaming. Because we pipe data in 64-kilobyte chunks, our memory footprint remains virtually flat at around 30 megabytes, whether you transfer a 1-megabyte text file or a 100-gigabyte 4K video.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our complete technology stack. The frontend is built on React 18, Vite, and Tailwind CSS, ensuring instant page loads and responsive state handling. The backend daemon runs on Node.js 18+ with pure TypeScript. Crucially, both tiers share a single source of truth in '@shared/types.ts', guaranteeing full compile-time type safety across the WebSocket boundary. Startup scripts for Windows and macOS make onboarding as simple as running a single command.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If you are doing a live presentation demo, follow this 3-minute sequence: Start the application with the startup script, show the browser connecting instantly to the local daemon, pick a folder using the visual browser, kick off the transfer to highlight the live MB/s telemetry, and finally show how the Conflict Resolution modal handles duplicate files smoothly.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To summarize: File Transfer Agent provides a fast, secure, and modern bridge between web-based user experiences and raw filesystem power. Looking ahead, we plan to introduce LAN peer-to-peer transfers, cryptographic checksum verification, and scheduled backup jobs. Thank you all for your time, and I'd now like to open the floor for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228600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20240"/>
            <a:ext cx="10515600" cy="2926080"/>
          </a:xfrm>
          <a:prstGeom prst="rect">
            <a:avLst/>
          </a:prstGeom>
          <a:noFill/>
        </p:spPr>
        <p:txBody>
          <a:bodyPr wrap="square">
            <a:spAutoFit/>
          </a:bodyPr>
          <a:lstStyle/>
          <a:p>
            <a:pPr>
              <a:defRPr sz="4000" b="1">
                <a:solidFill>
                  <a:srgbClr val="F8FAFC"/>
                </a:solidFill>
                <a:latin typeface="Arial"/>
              </a:defRPr>
            </a:pPr>
            <a:r>
              <a:t>FILE TRANSFER AGENT</a:t>
            </a:r>
          </a:p>
          <a:p>
            <a:pPr>
              <a:spcBef>
                <a:spcPts val="1400"/>
              </a:spcBef>
              <a:defRPr sz="1800">
                <a:solidFill>
                  <a:srgbClr val="38BDF8"/>
                </a:solidFill>
                <a:latin typeface="Arial"/>
              </a:defRPr>
            </a:pPr>
            <a:r>
              <a:t>Direct High-Performance Local File &amp; Folder Management via Modern Web Architecture</a:t>
            </a:r>
          </a:p>
          <a:p>
            <a:pPr>
              <a:spcBef>
                <a:spcPts val="1000"/>
              </a:spcBef>
              <a:defRPr sz="1400">
                <a:solidFill>
                  <a:srgbClr val="94A3B8"/>
                </a:solidFill>
                <a:latin typeface="Arial"/>
              </a:defRPr>
            </a:pPr>
            <a:r>
              <a:t>Eliminating Browser Upload Bottlenecks through Local Stream Daemon &amp; WebSocket Telemetry</a:t>
            </a:r>
          </a:p>
        </p:txBody>
      </p:sp>
      <p:sp>
        <p:nvSpPr>
          <p:cNvPr id="5" name="Rounded Rectangle 4"/>
          <p:cNvSpPr/>
          <p:nvPr/>
        </p:nvSpPr>
        <p:spPr>
          <a:xfrm>
            <a:off x="731520" y="5120640"/>
            <a:ext cx="2011680" cy="5029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5120640"/>
            <a:ext cx="2011680" cy="502920"/>
          </a:xfrm>
          <a:prstGeom prst="rect">
            <a:avLst/>
          </a:prstGeom>
          <a:noFill/>
        </p:spPr>
        <p:txBody>
          <a:bodyPr wrap="none">
            <a:spAutoFit/>
          </a:bodyPr>
          <a:lstStyle/>
          <a:p>
            <a:pPr algn="ctr">
              <a:defRPr sz="1100" b="1">
                <a:solidFill>
                  <a:srgbClr val="06B6D4"/>
                </a:solidFill>
                <a:latin typeface="Arial"/>
              </a:defRPr>
            </a:pPr>
            <a:r>
              <a:t>React 18 + Vite</a:t>
            </a:r>
          </a:p>
        </p:txBody>
      </p:sp>
      <p:sp>
        <p:nvSpPr>
          <p:cNvPr id="7" name="Rounded Rectangle 6"/>
          <p:cNvSpPr/>
          <p:nvPr/>
        </p:nvSpPr>
        <p:spPr>
          <a:xfrm>
            <a:off x="2880360" y="5120640"/>
            <a:ext cx="2011680" cy="5029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80360" y="5120640"/>
            <a:ext cx="2011680" cy="502920"/>
          </a:xfrm>
          <a:prstGeom prst="rect">
            <a:avLst/>
          </a:prstGeom>
          <a:noFill/>
        </p:spPr>
        <p:txBody>
          <a:bodyPr wrap="none">
            <a:spAutoFit/>
          </a:bodyPr>
          <a:lstStyle/>
          <a:p>
            <a:pPr algn="ctr">
              <a:defRPr sz="1100" b="1">
                <a:solidFill>
                  <a:srgbClr val="38BDF8"/>
                </a:solidFill>
                <a:latin typeface="Arial"/>
              </a:defRPr>
            </a:pPr>
            <a:r>
              <a:t>Node.js Streaming</a:t>
            </a:r>
          </a:p>
        </p:txBody>
      </p:sp>
      <p:sp>
        <p:nvSpPr>
          <p:cNvPr id="9" name="Rounded Rectangle 8"/>
          <p:cNvSpPr/>
          <p:nvPr/>
        </p:nvSpPr>
        <p:spPr>
          <a:xfrm>
            <a:off x="5029200" y="5120640"/>
            <a:ext cx="2011680" cy="5029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0" y="5120640"/>
            <a:ext cx="2011680" cy="502920"/>
          </a:xfrm>
          <a:prstGeom prst="rect">
            <a:avLst/>
          </a:prstGeom>
          <a:noFill/>
        </p:spPr>
        <p:txBody>
          <a:bodyPr wrap="none">
            <a:spAutoFit/>
          </a:bodyPr>
          <a:lstStyle/>
          <a:p>
            <a:pPr algn="ctr">
              <a:defRPr sz="1100" b="1">
                <a:solidFill>
                  <a:srgbClr val="10B981"/>
                </a:solidFill>
                <a:latin typeface="Arial"/>
              </a:defRPr>
            </a:pPr>
            <a:r>
              <a:t>WebSocket Protocol</a:t>
            </a:r>
          </a:p>
        </p:txBody>
      </p:sp>
      <p:sp>
        <p:nvSpPr>
          <p:cNvPr id="11" name="Rounded Rectangle 10"/>
          <p:cNvSpPr/>
          <p:nvPr/>
        </p:nvSpPr>
        <p:spPr>
          <a:xfrm>
            <a:off x="7178040" y="5120640"/>
            <a:ext cx="2011680" cy="50292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78040" y="5120640"/>
            <a:ext cx="2011680" cy="502920"/>
          </a:xfrm>
          <a:prstGeom prst="rect">
            <a:avLst/>
          </a:prstGeom>
          <a:noFill/>
        </p:spPr>
        <p:txBody>
          <a:bodyPr wrap="none">
            <a:spAutoFit/>
          </a:bodyPr>
          <a:lstStyle/>
          <a:p>
            <a:pPr algn="ctr">
              <a:defRPr sz="1100" b="1">
                <a:solidFill>
                  <a:srgbClr val="A855F7"/>
                </a:solidFill>
                <a:latin typeface="Arial"/>
              </a:defRPr>
            </a:pPr>
            <a:r>
              <a:t>Zero Cloud Overhead</a:t>
            </a:r>
          </a:p>
        </p:txBody>
      </p:sp>
      <p:sp>
        <p:nvSpPr>
          <p:cNvPr id="13" name="Rounded Rectangle 12"/>
          <p:cNvSpPr/>
          <p:nvPr/>
        </p:nvSpPr>
        <p:spPr>
          <a:xfrm>
            <a:off x="9326880" y="5120640"/>
            <a:ext cx="2011680" cy="5029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0" y="5120640"/>
            <a:ext cx="2011680" cy="502920"/>
          </a:xfrm>
          <a:prstGeom prst="rect">
            <a:avLst/>
          </a:prstGeom>
          <a:noFill/>
        </p:spPr>
        <p:txBody>
          <a:bodyPr wrap="none">
            <a:spAutoFit/>
          </a:bodyPr>
          <a:lstStyle/>
          <a:p>
            <a:pPr algn="ctr">
              <a:defRPr sz="1100" b="1">
                <a:solidFill>
                  <a:srgbClr val="F59E0B"/>
                </a:solidFill>
                <a:latin typeface="Arial"/>
              </a:defRPr>
            </a:pPr>
            <a:r>
              <a:t>TypeScript End-to-End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6B6D4"/>
                </a:solidFill>
                <a:latin typeface="Arial"/>
              </a:defRPr>
            </a:pPr>
            <a:r>
              <a:t>CHALLENGE &amp; OPPORTUNITY</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latin typeface="Arial"/>
              </a:defRPr>
            </a:pPr>
            <a:r>
              <a:t>The Problem: Why Traditional File Management Fails</a:t>
            </a:r>
          </a:p>
        </p:txBody>
      </p:sp>
      <p:sp>
        <p:nvSpPr>
          <p:cNvPr id="5" name="Rounded Rectangle 4"/>
          <p:cNvSpPr/>
          <p:nvPr/>
        </p:nvSpPr>
        <p:spPr>
          <a:xfrm>
            <a:off x="731520" y="1645920"/>
            <a:ext cx="33832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383280" cy="91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2926080" cy="3931920"/>
          </a:xfrm>
          <a:prstGeom prst="rect">
            <a:avLst/>
          </a:prstGeom>
          <a:noFill/>
        </p:spPr>
        <p:txBody>
          <a:bodyPr wrap="square">
            <a:spAutoFit/>
          </a:bodyPr>
          <a:lstStyle/>
          <a:p>
            <a:pPr>
              <a:defRPr sz="1600" b="1">
                <a:solidFill>
                  <a:srgbClr val="F8FAFC"/>
                </a:solidFill>
                <a:latin typeface="Arial"/>
              </a:defRPr>
            </a:pPr>
            <a:r>
              <a:t>1. Browser Memory &amp; Upload Traps</a:t>
            </a:r>
          </a:p>
          <a:p>
            <a:pPr>
              <a:spcBef>
                <a:spcPts val="1400"/>
              </a:spcBef>
              <a:defRPr sz="1300">
                <a:solidFill>
                  <a:srgbClr val="94A3B8"/>
                </a:solidFill>
                <a:latin typeface="Arial"/>
              </a:defRPr>
            </a:pPr>
            <a:r>
              <a:t>Standard web apps treat local file transfers like cloud uploads. Loading a 10 GB file reads it entirely into browser RAM, leading to memory bloat, laggy UI, and browser tab crashes.</a:t>
            </a:r>
          </a:p>
        </p:txBody>
      </p:sp>
      <p:sp>
        <p:nvSpPr>
          <p:cNvPr id="8" name="Rounded Rectangle 7"/>
          <p:cNvSpPr/>
          <p:nvPr/>
        </p:nvSpPr>
        <p:spPr>
          <a:xfrm>
            <a:off x="4389120" y="1645920"/>
            <a:ext cx="33832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645920"/>
            <a:ext cx="3383280" cy="914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920240"/>
            <a:ext cx="2926080" cy="3931920"/>
          </a:xfrm>
          <a:prstGeom prst="rect">
            <a:avLst/>
          </a:prstGeom>
          <a:noFill/>
        </p:spPr>
        <p:txBody>
          <a:bodyPr wrap="square">
            <a:spAutoFit/>
          </a:bodyPr>
          <a:lstStyle/>
          <a:p>
            <a:pPr>
              <a:defRPr sz="1600" b="1">
                <a:solidFill>
                  <a:srgbClr val="F8FAFC"/>
                </a:solidFill>
                <a:latin typeface="Arial"/>
              </a:defRPr>
            </a:pPr>
            <a:r>
              <a:t>2. Native Explorer Limitations</a:t>
            </a:r>
          </a:p>
          <a:p>
            <a:pPr>
              <a:spcBef>
                <a:spcPts val="1400"/>
              </a:spcBef>
              <a:defRPr sz="1300">
                <a:solidFill>
                  <a:srgbClr val="94A3B8"/>
                </a:solidFill>
                <a:latin typeface="Arial"/>
              </a:defRPr>
            </a:pPr>
            <a:r>
              <a:t>Native OS file managers lack flexible real-time telemetry, advanced multi-transfer queue concurrency, unified cross-platform UX, and instant programmable conflict hooks.</a:t>
            </a:r>
          </a:p>
        </p:txBody>
      </p:sp>
      <p:sp>
        <p:nvSpPr>
          <p:cNvPr id="11" name="Rounded Rectangle 10"/>
          <p:cNvSpPr/>
          <p:nvPr/>
        </p:nvSpPr>
        <p:spPr>
          <a:xfrm>
            <a:off x="8046720" y="1645920"/>
            <a:ext cx="33832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645920"/>
            <a:ext cx="3383280"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920240"/>
            <a:ext cx="2926080" cy="3931920"/>
          </a:xfrm>
          <a:prstGeom prst="rect">
            <a:avLst/>
          </a:prstGeom>
          <a:noFill/>
        </p:spPr>
        <p:txBody>
          <a:bodyPr wrap="square">
            <a:spAutoFit/>
          </a:bodyPr>
          <a:lstStyle/>
          <a:p>
            <a:pPr>
              <a:defRPr sz="1600" b="1">
                <a:solidFill>
                  <a:srgbClr val="F8FAFC"/>
                </a:solidFill>
                <a:latin typeface="Arial"/>
              </a:defRPr>
            </a:pPr>
            <a:r>
              <a:t>3. The Architectural Solution</a:t>
            </a:r>
          </a:p>
          <a:p>
            <a:pPr>
              <a:spcBef>
                <a:spcPts val="1400"/>
              </a:spcBef>
              <a:defRPr sz="1300">
                <a:solidFill>
                  <a:srgbClr val="94A3B8"/>
                </a:solidFill>
                <a:latin typeface="Arial"/>
              </a:defRPr>
            </a:pPr>
            <a:r>
              <a:t>A decoupled architecture: The web browser serves purely as a responsive visual control plane, while a dedicated local agent streams data disk-to-disk with zero network hops.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6B6D4"/>
                </a:solidFill>
                <a:latin typeface="Arial"/>
              </a:defRPr>
            </a:pPr>
            <a:r>
              <a:t>PROJECT POSITIONING</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latin typeface="Arial"/>
              </a:defRPr>
            </a:pPr>
            <a:r>
              <a:t>System Synergy: The Triple-Domain Sweet Spot</a:t>
            </a:r>
          </a:p>
        </p:txBody>
      </p:sp>
      <p:sp>
        <p:nvSpPr>
          <p:cNvPr id="5" name="Oval 4"/>
          <p:cNvSpPr/>
          <p:nvPr/>
        </p:nvSpPr>
        <p:spPr>
          <a:xfrm>
            <a:off x="2011680" y="1645920"/>
            <a:ext cx="3840480" cy="3840480"/>
          </a:xfrm>
          <a:prstGeom prst="ellipse">
            <a:avLst/>
          </a:prstGeom>
          <a:solidFill>
            <a:srgbClr val="143250"/>
          </a:solidFill>
          <a:ln w="317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217920" y="1645920"/>
            <a:ext cx="3840480" cy="3840480"/>
          </a:xfrm>
          <a:prstGeom prst="ellipse">
            <a:avLst/>
          </a:prstGeom>
          <a:solidFill>
            <a:srgbClr val="0A3C37"/>
          </a:solidFill>
          <a:ln w="317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4114800" y="2560320"/>
            <a:ext cx="3840480" cy="3840480"/>
          </a:xfrm>
          <a:prstGeom prst="ellipse">
            <a:avLst/>
          </a:prstGeom>
          <a:solidFill>
            <a:srgbClr val="281946"/>
          </a:solidFill>
          <a:ln w="317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297680" y="2926080"/>
            <a:ext cx="3474720" cy="1280160"/>
          </a:xfrm>
          <a:prstGeom prst="roundRect">
            <a:avLst/>
          </a:prstGeom>
          <a:solidFill>
            <a:srgbClr val="0F172A"/>
          </a:solidFill>
          <a:ln w="317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0" y="2971800"/>
            <a:ext cx="3474720" cy="1188720"/>
          </a:xfrm>
          <a:prstGeom prst="rect">
            <a:avLst/>
          </a:prstGeom>
          <a:noFill/>
        </p:spPr>
        <p:txBody>
          <a:bodyPr wrap="square">
            <a:spAutoFit/>
          </a:bodyPr>
          <a:lstStyle/>
          <a:p>
            <a:pPr algn="ctr">
              <a:defRPr sz="1400" b="1">
                <a:solidFill>
                  <a:srgbClr val="10B981"/>
                </a:solidFill>
                <a:latin typeface="Arial"/>
              </a:defRPr>
            </a:pPr>
            <a:r>
              <a:t>FILE TRANSFER AGENT</a:t>
            </a:r>
          </a:p>
          <a:p>
            <a:pPr algn="ctr">
              <a:defRPr sz="1100">
                <a:solidFill>
                  <a:srgbClr val="F8FAFC"/>
                </a:solidFill>
                <a:latin typeface="Arial"/>
              </a:defRPr>
            </a:pPr>
            <a:r>
              <a:t>Safe • Instant • Reactive</a:t>
            </a:r>
            <a:br/>
            <a:r>
              <a:t>Disk-to-Disk Stream</a:t>
            </a:r>
          </a:p>
        </p:txBody>
      </p:sp>
      <p:sp>
        <p:nvSpPr>
          <p:cNvPr id="10" name="TextBox 9"/>
          <p:cNvSpPr txBox="1"/>
          <p:nvPr/>
        </p:nvSpPr>
        <p:spPr>
          <a:xfrm>
            <a:off x="548640" y="2194560"/>
            <a:ext cx="2194560" cy="1828800"/>
          </a:xfrm>
          <a:prstGeom prst="rect">
            <a:avLst/>
          </a:prstGeom>
          <a:noFill/>
        </p:spPr>
        <p:txBody>
          <a:bodyPr wrap="square">
            <a:spAutoFit/>
          </a:bodyPr>
          <a:lstStyle/>
          <a:p>
            <a:pPr>
              <a:defRPr b="1" sz="1300">
                <a:solidFill>
                  <a:srgbClr val="38BDF8"/>
                </a:solidFill>
              </a:defRPr>
            </a:pPr>
            <a:r>
              <a:t>MODERN WEB UX</a:t>
            </a:r>
          </a:p>
          <a:p>
            <a:pPr>
              <a:defRPr sz="1100">
                <a:solidFill>
                  <a:srgbClr val="94A3B8"/>
                </a:solidFill>
              </a:defRPr>
            </a:pPr>
            <a:r>
              <a:t>• React 18 &amp; Tailwind</a:t>
            </a:r>
            <a:br/>
            <a:r>
              <a:t>• Real-time progress bars</a:t>
            </a:r>
            <a:br/>
            <a:r>
              <a:t>• Dark/Light themes</a:t>
            </a:r>
            <a:br/>
            <a:r>
              <a:t>• Folder browsing dialogs</a:t>
            </a:r>
          </a:p>
        </p:txBody>
      </p:sp>
      <p:sp>
        <p:nvSpPr>
          <p:cNvPr id="11" name="TextBox 10"/>
          <p:cNvSpPr txBox="1"/>
          <p:nvPr/>
        </p:nvSpPr>
        <p:spPr>
          <a:xfrm>
            <a:off x="9418320" y="2194560"/>
            <a:ext cx="2377440" cy="1828800"/>
          </a:xfrm>
          <a:prstGeom prst="rect">
            <a:avLst/>
          </a:prstGeom>
          <a:noFill/>
        </p:spPr>
        <p:txBody>
          <a:bodyPr wrap="square">
            <a:spAutoFit/>
          </a:bodyPr>
          <a:lstStyle/>
          <a:p>
            <a:pPr>
              <a:defRPr b="1" sz="1300">
                <a:solidFill>
                  <a:srgbClr val="06B6D4"/>
                </a:solidFill>
              </a:defRPr>
            </a:pPr>
            <a:r>
              <a:t>NATIVE DISK SPEED</a:t>
            </a:r>
          </a:p>
          <a:p>
            <a:pPr>
              <a:defRPr sz="1100">
                <a:solidFill>
                  <a:srgbClr val="94A3B8"/>
                </a:solidFill>
              </a:defRPr>
            </a:pPr>
            <a:r>
              <a:t>• 64KB chunk streaming</a:t>
            </a:r>
            <a:br/>
            <a:r>
              <a:t>• O(1) memory footprint</a:t>
            </a:r>
            <a:br/>
            <a:r>
              <a:t>• Move / Copy operations</a:t>
            </a:r>
            <a:br/>
            <a:r>
              <a:t>• Direct disk-to-disk I/O</a:t>
            </a:r>
          </a:p>
        </p:txBody>
      </p:sp>
      <p:sp>
        <p:nvSpPr>
          <p:cNvPr id="12" name="TextBox 11"/>
          <p:cNvSpPr txBox="1"/>
          <p:nvPr/>
        </p:nvSpPr>
        <p:spPr>
          <a:xfrm>
            <a:off x="4572000" y="5486400"/>
            <a:ext cx="3200400" cy="1188720"/>
          </a:xfrm>
          <a:prstGeom prst="rect">
            <a:avLst/>
          </a:prstGeom>
          <a:noFill/>
        </p:spPr>
        <p:txBody>
          <a:bodyPr wrap="square">
            <a:spAutoFit/>
          </a:bodyPr>
          <a:lstStyle/>
          <a:p>
            <a:pPr algn="ctr">
              <a:defRPr b="1" sz="1300">
                <a:solidFill>
                  <a:srgbClr val="A855F7"/>
                </a:solidFill>
              </a:defRPr>
            </a:pPr>
            <a:r>
              <a:t>ZERO-TRUST SECURITY</a:t>
            </a:r>
          </a:p>
          <a:p>
            <a:pPr algn="ctr">
              <a:defRPr sz="1100">
                <a:solidFill>
                  <a:srgbClr val="94A3B8"/>
                </a:solidFill>
              </a:defRPr>
            </a:pPr>
            <a:r>
              <a:t>• 127.0.0.1 Loopback only</a:t>
            </a:r>
            <a:br/>
            <a:r>
              <a:t>• Cryptographic bearer token</a:t>
            </a:r>
            <a:br/>
            <a:r>
              <a:t>• Path whitelisting containment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6B6D4"/>
                </a:solidFill>
                <a:latin typeface="Arial"/>
              </a:defRPr>
            </a:pPr>
            <a:r>
              <a:t>TECHNICAL ARCHITECTURE</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latin typeface="Arial"/>
              </a:defRPr>
            </a:pPr>
            <a:r>
              <a:t>System Architecture: Decoupled Agent-Client Model</a:t>
            </a:r>
          </a:p>
        </p:txBody>
      </p:sp>
      <p:sp>
        <p:nvSpPr>
          <p:cNvPr id="5" name="Rounded Rectangle 4"/>
          <p:cNvSpPr/>
          <p:nvPr/>
        </p:nvSpPr>
        <p:spPr>
          <a:xfrm>
            <a:off x="731520" y="1645920"/>
            <a:ext cx="32918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291840" cy="914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2926080" cy="3931920"/>
          </a:xfrm>
          <a:prstGeom prst="rect">
            <a:avLst/>
          </a:prstGeom>
          <a:noFill/>
        </p:spPr>
        <p:txBody>
          <a:bodyPr wrap="square">
            <a:spAutoFit/>
          </a:bodyPr>
          <a:lstStyle/>
          <a:p>
            <a:pPr>
              <a:defRPr sz="1600" b="1">
                <a:solidFill>
                  <a:srgbClr val="F8FAFC"/>
                </a:solidFill>
              </a:defRPr>
            </a:pPr>
            <a:r>
              <a:t>1. Frontend (Browser)</a:t>
            </a:r>
          </a:p>
          <a:p>
            <a:pPr>
              <a:spcBef>
                <a:spcPts val="800"/>
              </a:spcBef>
              <a:defRPr sz="1200">
                <a:solidFill>
                  <a:srgbClr val="94A3B8"/>
                </a:solidFill>
              </a:defRPr>
            </a:pPr>
            <a:r>
              <a:t>• Tech: React 18, Vite, Tailwind CSS</a:t>
            </a:r>
          </a:p>
          <a:p>
            <a:pPr>
              <a:spcBef>
                <a:spcPts val="800"/>
              </a:spcBef>
              <a:defRPr sz="1200">
                <a:solidFill>
                  <a:srgbClr val="94A3B8"/>
                </a:solidFill>
              </a:defRPr>
            </a:pPr>
            <a:r>
              <a:t>• Role: UI Control Plane &amp; Dashboard</a:t>
            </a:r>
          </a:p>
          <a:p>
            <a:pPr>
              <a:spcBef>
                <a:spcPts val="800"/>
              </a:spcBef>
              <a:defRPr sz="1200">
                <a:solidFill>
                  <a:srgbClr val="94A3B8"/>
                </a:solidFill>
              </a:defRPr>
            </a:pPr>
            <a:r>
              <a:t>• useWebSocket(): Auto-reconnect &amp; state</a:t>
            </a:r>
          </a:p>
          <a:p>
            <a:pPr>
              <a:spcBef>
                <a:spcPts val="800"/>
              </a:spcBef>
              <a:defRPr sz="1200">
                <a:solidFill>
                  <a:srgbClr val="94A3B8"/>
                </a:solidFill>
              </a:defRPr>
            </a:pPr>
            <a:r>
              <a:t>• useTransfers(): Queue &amp; metrics hook</a:t>
            </a:r>
          </a:p>
          <a:p>
            <a:pPr>
              <a:spcBef>
                <a:spcPts val="800"/>
              </a:spcBef>
              <a:defRPr sz="1200">
                <a:solidFill>
                  <a:srgbClr val="94A3B8"/>
                </a:solidFill>
              </a:defRPr>
            </a:pPr>
            <a:r>
              <a:t>• BrowseModal: Visual folder navigation</a:t>
            </a:r>
          </a:p>
          <a:p>
            <a:pPr>
              <a:spcBef>
                <a:spcPts val="800"/>
              </a:spcBef>
              <a:defRPr sz="1200">
                <a:solidFill>
                  <a:srgbClr val="94A3B8"/>
                </a:solidFill>
              </a:defRPr>
            </a:pPr>
            <a:r>
              <a:t>• Zero file data stored in DOM / RAM</a:t>
            </a:r>
          </a:p>
        </p:txBody>
      </p:sp>
      <p:sp>
        <p:nvSpPr>
          <p:cNvPr id="8" name="Rounded Rectangle 7"/>
          <p:cNvSpPr/>
          <p:nvPr/>
        </p:nvSpPr>
        <p:spPr>
          <a:xfrm>
            <a:off x="4389120" y="1645920"/>
            <a:ext cx="33832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645920"/>
            <a:ext cx="3383280" cy="9144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920240"/>
            <a:ext cx="3017520" cy="3931920"/>
          </a:xfrm>
          <a:prstGeom prst="rect">
            <a:avLst/>
          </a:prstGeom>
          <a:noFill/>
        </p:spPr>
        <p:txBody>
          <a:bodyPr wrap="square">
            <a:spAutoFit/>
          </a:bodyPr>
          <a:lstStyle/>
          <a:p>
            <a:pPr>
              <a:defRPr sz="1600" b="1">
                <a:solidFill>
                  <a:srgbClr val="F8FAFC"/>
                </a:solidFill>
              </a:defRPr>
            </a:pPr>
            <a:r>
              <a:t>2. Communication Bridge</a:t>
            </a:r>
          </a:p>
          <a:p>
            <a:pPr>
              <a:spcBef>
                <a:spcPts val="800"/>
              </a:spcBef>
              <a:defRPr sz="1200">
                <a:solidFill>
                  <a:srgbClr val="94A3B8"/>
                </a:solidFill>
              </a:defRPr>
            </a:pPr>
            <a:r>
              <a:t>• WebSocket: ws://127.0.0.1:3456</a:t>
            </a:r>
          </a:p>
          <a:p>
            <a:pPr>
              <a:spcBef>
                <a:spcPts val="800"/>
              </a:spcBef>
              <a:defRPr sz="1200">
                <a:solidFill>
                  <a:srgbClr val="94A3B8"/>
                </a:solidFill>
              </a:defRPr>
            </a:pPr>
            <a:r>
              <a:t>• HTTP API: http://127.0.0.1:3457</a:t>
            </a:r>
          </a:p>
          <a:p>
            <a:pPr>
              <a:spcBef>
                <a:spcPts val="800"/>
              </a:spcBef>
              <a:defRPr sz="1200">
                <a:solidFill>
                  <a:srgbClr val="94A3B8"/>
                </a:solidFill>
              </a:defRPr>
            </a:pPr>
            <a:r>
              <a:t>• Full-Duplex Telemetry Streaming</a:t>
            </a:r>
          </a:p>
          <a:p>
            <a:pPr>
              <a:spcBef>
                <a:spcPts val="800"/>
              </a:spcBef>
              <a:defRPr sz="1200">
                <a:solidFill>
                  <a:srgbClr val="94A3B8"/>
                </a:solidFill>
              </a:defRPr>
            </a:pPr>
            <a:r>
              <a:t>• Sub-millisecond latency for live stats</a:t>
            </a:r>
          </a:p>
          <a:p>
            <a:pPr>
              <a:spcBef>
                <a:spcPts val="800"/>
              </a:spcBef>
              <a:defRPr sz="1200">
                <a:solidFill>
                  <a:srgbClr val="94A3B8"/>
                </a:solidFill>
              </a:defRPr>
            </a:pPr>
            <a:r>
              <a:t>• Strict JSON Protocol Contract:</a:t>
            </a:r>
          </a:p>
          <a:p>
            <a:pPr>
              <a:spcBef>
                <a:spcPts val="800"/>
              </a:spcBef>
              <a:defRPr sz="1200">
                <a:solidFill>
                  <a:srgbClr val="94A3B8"/>
                </a:solidFill>
              </a:defRPr>
            </a:pPr>
            <a:r>
              <a:t>•   auth | transfer | cancel | browse | progress</a:t>
            </a:r>
          </a:p>
        </p:txBody>
      </p:sp>
      <p:sp>
        <p:nvSpPr>
          <p:cNvPr id="11" name="Rounded Rectangle 10"/>
          <p:cNvSpPr/>
          <p:nvPr/>
        </p:nvSpPr>
        <p:spPr>
          <a:xfrm>
            <a:off x="8138160" y="1645920"/>
            <a:ext cx="329184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38160" y="1645920"/>
            <a:ext cx="3291840"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920240"/>
            <a:ext cx="2926080" cy="3931920"/>
          </a:xfrm>
          <a:prstGeom prst="rect">
            <a:avLst/>
          </a:prstGeom>
          <a:noFill/>
        </p:spPr>
        <p:txBody>
          <a:bodyPr wrap="square">
            <a:spAutoFit/>
          </a:bodyPr>
          <a:lstStyle/>
          <a:p>
            <a:pPr>
              <a:defRPr sz="1600" b="1">
                <a:solidFill>
                  <a:srgbClr val="F8FAFC"/>
                </a:solidFill>
              </a:defRPr>
            </a:pPr>
            <a:r>
              <a:t>3. Agent Core (Node.js)</a:t>
            </a:r>
          </a:p>
          <a:p>
            <a:pPr>
              <a:spcBef>
                <a:spcPts val="800"/>
              </a:spcBef>
              <a:defRPr sz="1200">
                <a:solidFill>
                  <a:srgbClr val="94A3B8"/>
                </a:solidFill>
              </a:defRPr>
            </a:pPr>
            <a:r>
              <a:t>• Tech: Node.js 18+, TypeScript, ws</a:t>
            </a:r>
          </a:p>
          <a:p>
            <a:pPr>
              <a:spcBef>
                <a:spcPts val="800"/>
              </a:spcBef>
              <a:defRPr sz="1200">
                <a:solidFill>
                  <a:srgbClr val="94A3B8"/>
                </a:solidFill>
              </a:defRPr>
            </a:pPr>
            <a:r>
              <a:t>• Transfer Engine: 64KB stream piping</a:t>
            </a:r>
          </a:p>
          <a:p>
            <a:pPr>
              <a:spcBef>
                <a:spcPts val="800"/>
              </a:spcBef>
              <a:defRPr sz="1200">
                <a:solidFill>
                  <a:srgbClr val="94A3B8"/>
                </a:solidFill>
              </a:defRPr>
            </a:pPr>
            <a:r>
              <a:t>• Queue Manager: Concurrency limit (3)</a:t>
            </a:r>
          </a:p>
          <a:p>
            <a:pPr>
              <a:spcBef>
                <a:spcPts val="800"/>
              </a:spcBef>
              <a:defRPr sz="1200">
                <a:solidFill>
                  <a:srgbClr val="94A3B8"/>
                </a:solidFill>
              </a:defRPr>
            </a:pPr>
            <a:r>
              <a:t>• Path Whitelist: Directory jail sandbox</a:t>
            </a:r>
          </a:p>
          <a:p>
            <a:pPr>
              <a:spcBef>
                <a:spcPts val="800"/>
              </a:spcBef>
              <a:defRPr sz="1200">
                <a:solidFill>
                  <a:srgbClr val="94A3B8"/>
                </a:solidFill>
              </a:defRPr>
            </a:pPr>
            <a:r>
              <a:t>• Conflict Engine: Rename / Overwrite / Skip</a:t>
            </a:r>
          </a:p>
          <a:p>
            <a:pPr>
              <a:spcBef>
                <a:spcPts val="800"/>
              </a:spcBef>
              <a:defRPr sz="1200">
                <a:solidFill>
                  <a:srgbClr val="94A3B8"/>
                </a:solidFill>
              </a:defRPr>
            </a:pPr>
            <a:r>
              <a:t>• Direct Native Filesystem I/O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6B6D4"/>
                </a:solidFill>
                <a:latin typeface="Arial"/>
              </a:defRPr>
            </a:pPr>
            <a:r>
              <a:t>SYSTEM OPERATION</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latin typeface="Arial"/>
              </a:defRPr>
            </a:pPr>
            <a:r>
              <a:t>End-to-End Workflow: How Transfers Execute</a:t>
            </a:r>
          </a:p>
        </p:txBody>
      </p:sp>
      <p:sp>
        <p:nvSpPr>
          <p:cNvPr id="5" name="Rounded Rectangle 4"/>
          <p:cNvSpPr/>
          <p:nvPr/>
        </p:nvSpPr>
        <p:spPr>
          <a:xfrm>
            <a:off x="731520" y="1645920"/>
            <a:ext cx="205740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828800"/>
            <a:ext cx="1691640" cy="41148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latin typeface="Arial"/>
              </a:defRPr>
            </a:pPr>
            <a:r>
              <a:t>Step 1</a:t>
            </a:r>
          </a:p>
        </p:txBody>
      </p:sp>
      <p:sp>
        <p:nvSpPr>
          <p:cNvPr id="7" name="TextBox 6"/>
          <p:cNvSpPr txBox="1"/>
          <p:nvPr/>
        </p:nvSpPr>
        <p:spPr>
          <a:xfrm>
            <a:off x="868680" y="2377440"/>
            <a:ext cx="1783080" cy="3474720"/>
          </a:xfrm>
          <a:prstGeom prst="rect">
            <a:avLst/>
          </a:prstGeom>
          <a:noFill/>
        </p:spPr>
        <p:txBody>
          <a:bodyPr wrap="square">
            <a:spAutoFit/>
          </a:bodyPr>
          <a:lstStyle/>
          <a:p>
            <a:pPr>
              <a:defRPr sz="1400" b="1">
                <a:solidFill>
                  <a:srgbClr val="F8FAFC"/>
                </a:solidFill>
              </a:defRPr>
            </a:pPr>
            <a:r>
              <a:t>Auth Handshake</a:t>
            </a:r>
          </a:p>
          <a:p>
            <a:pPr>
              <a:spcBef>
                <a:spcPts val="1000"/>
              </a:spcBef>
              <a:defRPr sz="1100">
                <a:solidFill>
                  <a:srgbClr val="94A3B8"/>
                </a:solidFill>
              </a:defRPr>
            </a:pPr>
            <a:r>
              <a:t>Agent generates 32-char crypto token. Browser sends token upon WS connection to verify session.</a:t>
            </a:r>
          </a:p>
        </p:txBody>
      </p:sp>
      <p:sp>
        <p:nvSpPr>
          <p:cNvPr id="8" name="Rounded Rectangle 7"/>
          <p:cNvSpPr/>
          <p:nvPr/>
        </p:nvSpPr>
        <p:spPr>
          <a:xfrm>
            <a:off x="2971800" y="1645920"/>
            <a:ext cx="205740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154680" y="1828800"/>
            <a:ext cx="1691640" cy="41148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latin typeface="Arial"/>
              </a:defRPr>
            </a:pPr>
            <a:r>
              <a:t>Step 2</a:t>
            </a:r>
          </a:p>
        </p:txBody>
      </p:sp>
      <p:sp>
        <p:nvSpPr>
          <p:cNvPr id="10" name="TextBox 9"/>
          <p:cNvSpPr txBox="1"/>
          <p:nvPr/>
        </p:nvSpPr>
        <p:spPr>
          <a:xfrm>
            <a:off x="3108960" y="2377440"/>
            <a:ext cx="1783080" cy="3474720"/>
          </a:xfrm>
          <a:prstGeom prst="rect">
            <a:avLst/>
          </a:prstGeom>
          <a:noFill/>
        </p:spPr>
        <p:txBody>
          <a:bodyPr wrap="square">
            <a:spAutoFit/>
          </a:bodyPr>
          <a:lstStyle/>
          <a:p>
            <a:pPr>
              <a:defRPr sz="1400" b="1">
                <a:solidFill>
                  <a:srgbClr val="F8FAFC"/>
                </a:solidFill>
              </a:defRPr>
            </a:pPr>
            <a:r>
              <a:t>Path Selection</a:t>
            </a:r>
          </a:p>
          <a:p>
            <a:pPr>
              <a:spcBef>
                <a:spcPts val="1000"/>
              </a:spcBef>
              <a:defRPr sz="1100">
                <a:solidFill>
                  <a:srgbClr val="94A3B8"/>
                </a:solidFill>
              </a:defRPr>
            </a:pPr>
            <a:r>
              <a:t>User selects source and destination via native browser dialog or drag-and-drop. Whitelist is verified.</a:t>
            </a:r>
          </a:p>
        </p:txBody>
      </p:sp>
      <p:sp>
        <p:nvSpPr>
          <p:cNvPr id="11" name="Rounded Rectangle 10"/>
          <p:cNvSpPr/>
          <p:nvPr/>
        </p:nvSpPr>
        <p:spPr>
          <a:xfrm>
            <a:off x="5212080" y="1645920"/>
            <a:ext cx="205740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394960" y="1828800"/>
            <a:ext cx="1691640" cy="411480"/>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latin typeface="Arial"/>
              </a:defRPr>
            </a:pPr>
            <a:r>
              <a:t>Step 3</a:t>
            </a:r>
          </a:p>
        </p:txBody>
      </p:sp>
      <p:sp>
        <p:nvSpPr>
          <p:cNvPr id="13" name="TextBox 12"/>
          <p:cNvSpPr txBox="1"/>
          <p:nvPr/>
        </p:nvSpPr>
        <p:spPr>
          <a:xfrm>
            <a:off x="5349240" y="2377440"/>
            <a:ext cx="1783080" cy="3474720"/>
          </a:xfrm>
          <a:prstGeom prst="rect">
            <a:avLst/>
          </a:prstGeom>
          <a:noFill/>
        </p:spPr>
        <p:txBody>
          <a:bodyPr wrap="square">
            <a:spAutoFit/>
          </a:bodyPr>
          <a:lstStyle/>
          <a:p>
            <a:pPr>
              <a:defRPr sz="1400" b="1">
                <a:solidFill>
                  <a:srgbClr val="F8FAFC"/>
                </a:solidFill>
              </a:defRPr>
            </a:pPr>
            <a:r>
              <a:t>Scan &amp; Pre-flight</a:t>
            </a:r>
          </a:p>
          <a:p>
            <a:pPr>
              <a:spcBef>
                <a:spcPts val="1000"/>
              </a:spcBef>
              <a:defRPr sz="1100">
                <a:solidFill>
                  <a:srgbClr val="94A3B8"/>
                </a:solidFill>
              </a:defRPr>
            </a:pPr>
            <a:r>
              <a:t>Engine recursively scans source, indexes files, computes total bytes, and prompts if conflicts exist.</a:t>
            </a:r>
          </a:p>
        </p:txBody>
      </p:sp>
      <p:sp>
        <p:nvSpPr>
          <p:cNvPr id="14" name="Rounded Rectangle 13"/>
          <p:cNvSpPr/>
          <p:nvPr/>
        </p:nvSpPr>
        <p:spPr>
          <a:xfrm>
            <a:off x="7452360" y="1645920"/>
            <a:ext cx="205740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635240" y="1828800"/>
            <a:ext cx="1691640" cy="4114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latin typeface="Arial"/>
              </a:defRPr>
            </a:pPr>
            <a:r>
              <a:t>Step 4</a:t>
            </a:r>
          </a:p>
        </p:txBody>
      </p:sp>
      <p:sp>
        <p:nvSpPr>
          <p:cNvPr id="16" name="TextBox 15"/>
          <p:cNvSpPr txBox="1"/>
          <p:nvPr/>
        </p:nvSpPr>
        <p:spPr>
          <a:xfrm>
            <a:off x="7589520" y="2377440"/>
            <a:ext cx="1783080" cy="3474720"/>
          </a:xfrm>
          <a:prstGeom prst="rect">
            <a:avLst/>
          </a:prstGeom>
          <a:noFill/>
        </p:spPr>
        <p:txBody>
          <a:bodyPr wrap="square">
            <a:spAutoFit/>
          </a:bodyPr>
          <a:lstStyle/>
          <a:p>
            <a:pPr>
              <a:defRPr sz="1400" b="1">
                <a:solidFill>
                  <a:srgbClr val="F8FAFC"/>
                </a:solidFill>
              </a:defRPr>
            </a:pPr>
            <a:r>
              <a:t>Stream Piping</a:t>
            </a:r>
          </a:p>
          <a:p>
            <a:pPr>
              <a:spcBef>
                <a:spcPts val="1000"/>
              </a:spcBef>
              <a:defRPr sz="1100">
                <a:solidFill>
                  <a:srgbClr val="94A3B8"/>
                </a:solidFill>
              </a:defRPr>
            </a:pPr>
            <a:r>
              <a:t>Engine spins up fs.createReadStream piped to fs.createWriteStream using 64KB buffer chunks.</a:t>
            </a:r>
          </a:p>
        </p:txBody>
      </p:sp>
      <p:sp>
        <p:nvSpPr>
          <p:cNvPr id="17" name="Rounded Rectangle 16"/>
          <p:cNvSpPr/>
          <p:nvPr/>
        </p:nvSpPr>
        <p:spPr>
          <a:xfrm>
            <a:off x="9692640" y="1645920"/>
            <a:ext cx="205740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875520" y="1828800"/>
            <a:ext cx="1691640" cy="41148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F172A"/>
                </a:solidFill>
                <a:latin typeface="Arial"/>
              </a:defRPr>
            </a:pPr>
            <a:r>
              <a:t>Step 5</a:t>
            </a:r>
          </a:p>
        </p:txBody>
      </p:sp>
      <p:sp>
        <p:nvSpPr>
          <p:cNvPr id="19" name="TextBox 18"/>
          <p:cNvSpPr txBox="1"/>
          <p:nvPr/>
        </p:nvSpPr>
        <p:spPr>
          <a:xfrm>
            <a:off x="9829800" y="2377440"/>
            <a:ext cx="1783080" cy="3474720"/>
          </a:xfrm>
          <a:prstGeom prst="rect">
            <a:avLst/>
          </a:prstGeom>
          <a:noFill/>
        </p:spPr>
        <p:txBody>
          <a:bodyPr wrap="square">
            <a:spAutoFit/>
          </a:bodyPr>
          <a:lstStyle/>
          <a:p>
            <a:pPr>
              <a:defRPr sz="1400" b="1">
                <a:solidFill>
                  <a:srgbClr val="F8FAFC"/>
                </a:solidFill>
              </a:defRPr>
            </a:pPr>
            <a:r>
              <a:t>Live Telemetry</a:t>
            </a:r>
          </a:p>
          <a:p>
            <a:pPr>
              <a:spcBef>
                <a:spcPts val="1000"/>
              </a:spcBef>
              <a:defRPr sz="1100">
                <a:solidFill>
                  <a:srgbClr val="94A3B8"/>
                </a:solidFill>
              </a:defRPr>
            </a:pPr>
            <a:r>
              <a:t>Speed (MB/s), elapsed time, ETA countdown, and file-by-file progress events stream to the UI.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6B6D4"/>
                </a:solidFill>
                <a:latin typeface="Arial"/>
              </a:defRPr>
            </a:pPr>
            <a:r>
              <a:t>PROJECT CAPABILITIES</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latin typeface="Arial"/>
              </a:defRPr>
            </a:pPr>
            <a:r>
              <a:t>Key Features: Built for Speed, Scale &amp; Control</a:t>
            </a:r>
          </a:p>
        </p:txBody>
      </p:sp>
      <p:sp>
        <p:nvSpPr>
          <p:cNvPr id="5" name="Rounded Rectangle 4"/>
          <p:cNvSpPr/>
          <p:nvPr/>
        </p:nvSpPr>
        <p:spPr>
          <a:xfrm>
            <a:off x="731520" y="1645920"/>
            <a:ext cx="342900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60120" y="1920240"/>
            <a:ext cx="182880" cy="182880"/>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1828800"/>
            <a:ext cx="2743200" cy="1645920"/>
          </a:xfrm>
          <a:prstGeom prst="rect">
            <a:avLst/>
          </a:prstGeom>
          <a:noFill/>
        </p:spPr>
        <p:txBody>
          <a:bodyPr wrap="square">
            <a:spAutoFit/>
          </a:bodyPr>
          <a:lstStyle/>
          <a:p>
            <a:pPr>
              <a:defRPr sz="1400" b="1">
                <a:solidFill>
                  <a:srgbClr val="F8FAFC"/>
                </a:solidFill>
              </a:defRPr>
            </a:pPr>
            <a:r>
              <a:t>Direct Local Streaming</a:t>
            </a:r>
          </a:p>
          <a:p>
            <a:pPr>
              <a:spcBef>
                <a:spcPts val="600"/>
              </a:spcBef>
              <a:defRPr sz="1100">
                <a:solidFill>
                  <a:srgbClr val="94A3B8"/>
                </a:solidFill>
              </a:defRPr>
            </a:pPr>
            <a:r>
              <a:t>Zero browser RAM usage. 64KB chunked streams transfer gigabytes without freezing.</a:t>
            </a:r>
          </a:p>
        </p:txBody>
      </p:sp>
      <p:sp>
        <p:nvSpPr>
          <p:cNvPr id="8" name="Rounded Rectangle 7"/>
          <p:cNvSpPr/>
          <p:nvPr/>
        </p:nvSpPr>
        <p:spPr>
          <a:xfrm>
            <a:off x="4343400" y="1645920"/>
            <a:ext cx="342900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72000" y="1920240"/>
            <a:ext cx="182880" cy="182880"/>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828800"/>
            <a:ext cx="2743200" cy="1645920"/>
          </a:xfrm>
          <a:prstGeom prst="rect">
            <a:avLst/>
          </a:prstGeom>
          <a:noFill/>
        </p:spPr>
        <p:txBody>
          <a:bodyPr wrap="square">
            <a:spAutoFit/>
          </a:bodyPr>
          <a:lstStyle/>
          <a:p>
            <a:pPr>
              <a:defRPr sz="1400" b="1">
                <a:solidFill>
                  <a:srgbClr val="F8FAFC"/>
                </a:solidFill>
              </a:defRPr>
            </a:pPr>
            <a:r>
              <a:t>Copy &amp; Move Operations</a:t>
            </a:r>
          </a:p>
          <a:p>
            <a:pPr>
              <a:spcBef>
                <a:spcPts val="600"/>
              </a:spcBef>
              <a:defRPr sz="1100">
                <a:solidFill>
                  <a:srgbClr val="94A3B8"/>
                </a:solidFill>
              </a:defRPr>
            </a:pPr>
            <a:r>
              <a:t>Support for non-destructive duplication or atomic file system move operations.</a:t>
            </a:r>
          </a:p>
        </p:txBody>
      </p:sp>
      <p:sp>
        <p:nvSpPr>
          <p:cNvPr id="11" name="Rounded Rectangle 10"/>
          <p:cNvSpPr/>
          <p:nvPr/>
        </p:nvSpPr>
        <p:spPr>
          <a:xfrm>
            <a:off x="7955280" y="1645920"/>
            <a:ext cx="342900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183880" y="1920240"/>
            <a:ext cx="182880" cy="1828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200" y="1828800"/>
            <a:ext cx="2743200" cy="1645920"/>
          </a:xfrm>
          <a:prstGeom prst="rect">
            <a:avLst/>
          </a:prstGeom>
          <a:noFill/>
        </p:spPr>
        <p:txBody>
          <a:bodyPr wrap="square">
            <a:spAutoFit/>
          </a:bodyPr>
          <a:lstStyle/>
          <a:p>
            <a:pPr>
              <a:defRPr sz="1400" b="1">
                <a:solidFill>
                  <a:srgbClr val="F8FAFC"/>
                </a:solidFill>
              </a:defRPr>
            </a:pPr>
            <a:r>
              <a:t>Intelligent Conflict Modes</a:t>
            </a:r>
          </a:p>
          <a:p>
            <a:pPr>
              <a:spcBef>
                <a:spcPts val="600"/>
              </a:spcBef>
              <a:defRPr sz="1100">
                <a:solidFill>
                  <a:srgbClr val="94A3B8"/>
                </a:solidFill>
              </a:defRPr>
            </a:pPr>
            <a:r>
              <a:t>Configurable policies: Auto-Rename with unique suffixes, Overwrite, or Skip.</a:t>
            </a:r>
          </a:p>
        </p:txBody>
      </p:sp>
      <p:sp>
        <p:nvSpPr>
          <p:cNvPr id="14" name="Rounded Rectangle 13"/>
          <p:cNvSpPr/>
          <p:nvPr/>
        </p:nvSpPr>
        <p:spPr>
          <a:xfrm>
            <a:off x="731520" y="3886200"/>
            <a:ext cx="342900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60120" y="4160520"/>
            <a:ext cx="182880" cy="18288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 y="4069080"/>
            <a:ext cx="2743200" cy="1645920"/>
          </a:xfrm>
          <a:prstGeom prst="rect">
            <a:avLst/>
          </a:prstGeom>
          <a:noFill/>
        </p:spPr>
        <p:txBody>
          <a:bodyPr wrap="square">
            <a:spAutoFit/>
          </a:bodyPr>
          <a:lstStyle/>
          <a:p>
            <a:pPr>
              <a:defRPr sz="1400" b="1">
                <a:solidFill>
                  <a:srgbClr val="F8FAFC"/>
                </a:solidFill>
              </a:defRPr>
            </a:pPr>
            <a:r>
              <a:t>Real-Time Telemetry</a:t>
            </a:r>
          </a:p>
          <a:p>
            <a:pPr>
              <a:spcBef>
                <a:spcPts val="600"/>
              </a:spcBef>
              <a:defRPr sz="1100">
                <a:solidFill>
                  <a:srgbClr val="94A3B8"/>
                </a:solidFill>
              </a:defRPr>
            </a:pPr>
            <a:r>
              <a:t>Live speed (MB/s), remaining ETA countdown, and file-by-file visual progress bars.</a:t>
            </a:r>
          </a:p>
        </p:txBody>
      </p:sp>
      <p:sp>
        <p:nvSpPr>
          <p:cNvPr id="17" name="Rounded Rectangle 16"/>
          <p:cNvSpPr/>
          <p:nvPr/>
        </p:nvSpPr>
        <p:spPr>
          <a:xfrm>
            <a:off x="4343400" y="3886200"/>
            <a:ext cx="342900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572000" y="4160520"/>
            <a:ext cx="182880" cy="182880"/>
          </a:xfrm>
          <a:prstGeom prst="ellipse">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0" y="4069080"/>
            <a:ext cx="2743200" cy="1645920"/>
          </a:xfrm>
          <a:prstGeom prst="rect">
            <a:avLst/>
          </a:prstGeom>
          <a:noFill/>
        </p:spPr>
        <p:txBody>
          <a:bodyPr wrap="square">
            <a:spAutoFit/>
          </a:bodyPr>
          <a:lstStyle/>
          <a:p>
            <a:pPr>
              <a:defRPr sz="1400" b="1">
                <a:solidFill>
                  <a:srgbClr val="F8FAFC"/>
                </a:solidFill>
              </a:defRPr>
            </a:pPr>
            <a:r>
              <a:t>Folder Browser &amp; Drag-Drop</a:t>
            </a:r>
          </a:p>
          <a:p>
            <a:pPr>
              <a:spcBef>
                <a:spcPts val="600"/>
              </a:spcBef>
              <a:defRPr sz="1100">
                <a:solidFill>
                  <a:srgbClr val="94A3B8"/>
                </a:solidFill>
              </a:defRPr>
            </a:pPr>
            <a:r>
              <a:t>Browse server filesystem directories visually or drop OS folders directly into inputs.</a:t>
            </a:r>
          </a:p>
        </p:txBody>
      </p:sp>
      <p:sp>
        <p:nvSpPr>
          <p:cNvPr id="20" name="Rounded Rectangle 19"/>
          <p:cNvSpPr/>
          <p:nvPr/>
        </p:nvSpPr>
        <p:spPr>
          <a:xfrm>
            <a:off x="7955280" y="3886200"/>
            <a:ext cx="342900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83880" y="4160520"/>
            <a:ext cx="182880" cy="182880"/>
          </a:xfrm>
          <a:prstGeom prst="ellipse">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58200" y="4069080"/>
            <a:ext cx="2743200" cy="1645920"/>
          </a:xfrm>
          <a:prstGeom prst="rect">
            <a:avLst/>
          </a:prstGeom>
          <a:noFill/>
        </p:spPr>
        <p:txBody>
          <a:bodyPr wrap="square">
            <a:spAutoFit/>
          </a:bodyPr>
          <a:lstStyle/>
          <a:p>
            <a:pPr>
              <a:defRPr sz="1400" b="1">
                <a:solidFill>
                  <a:srgbClr val="F8FAFC"/>
                </a:solidFill>
              </a:defRPr>
            </a:pPr>
            <a:r>
              <a:t>Concurrent Multi-Transfer</a:t>
            </a:r>
          </a:p>
          <a:p>
            <a:pPr>
              <a:spcBef>
                <a:spcPts val="600"/>
              </a:spcBef>
              <a:defRPr sz="1100">
                <a:solidFill>
                  <a:srgbClr val="94A3B8"/>
                </a:solidFill>
              </a:defRPr>
            </a:pPr>
            <a:r>
              <a:t>Queue manager handling parallel transfers with configurable concurrency limits.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6B6D4"/>
                </a:solidFill>
                <a:latin typeface="Arial"/>
              </a:defRPr>
            </a:pPr>
            <a:r>
              <a:t>DATA PROTECTION</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latin typeface="Arial"/>
              </a:defRPr>
            </a:pPr>
            <a:r>
              <a:t>Intelligent Conflict Resolution &amp; Safety Policies</a:t>
            </a:r>
          </a:p>
        </p:txBody>
      </p:sp>
      <p:sp>
        <p:nvSpPr>
          <p:cNvPr id="5" name="Rounded Rectangle 4"/>
          <p:cNvSpPr/>
          <p:nvPr/>
        </p:nvSpPr>
        <p:spPr>
          <a:xfrm>
            <a:off x="731520" y="1645920"/>
            <a:ext cx="3383280" cy="31089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383280"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2926080" cy="2743200"/>
          </a:xfrm>
          <a:prstGeom prst="rect">
            <a:avLst/>
          </a:prstGeom>
          <a:noFill/>
        </p:spPr>
        <p:txBody>
          <a:bodyPr wrap="square">
            <a:spAutoFit/>
          </a:bodyPr>
          <a:lstStyle/>
          <a:p>
            <a:pPr>
              <a:defRPr sz="1500" b="1">
                <a:solidFill>
                  <a:srgbClr val="F8FAFC"/>
                </a:solidFill>
              </a:defRPr>
            </a:pPr>
            <a:r>
              <a:t>AUTO-RENAME (Default / Safe)</a:t>
            </a:r>
          </a:p>
          <a:p>
            <a:pPr>
              <a:spcBef>
                <a:spcPts val="1200"/>
              </a:spcBef>
              <a:defRPr sz="1200">
                <a:solidFill>
                  <a:srgbClr val="94A3B8"/>
                </a:solidFill>
              </a:defRPr>
            </a:pPr>
            <a:r>
              <a:t>Safeguards existing data by dynamically appending an incrementing suffix. e.g., 'document.pdf' becomes 'document_copy.pdf' or 'document_copy(1).pdf'. Never overwrites unexpectedly.</a:t>
            </a:r>
          </a:p>
        </p:txBody>
      </p:sp>
      <p:sp>
        <p:nvSpPr>
          <p:cNvPr id="8" name="Rounded Rectangle 7"/>
          <p:cNvSpPr/>
          <p:nvPr/>
        </p:nvSpPr>
        <p:spPr>
          <a:xfrm>
            <a:off x="4389120" y="1645920"/>
            <a:ext cx="3383280" cy="31089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645920"/>
            <a:ext cx="3383280" cy="91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920240"/>
            <a:ext cx="2926080" cy="2743200"/>
          </a:xfrm>
          <a:prstGeom prst="rect">
            <a:avLst/>
          </a:prstGeom>
          <a:noFill/>
        </p:spPr>
        <p:txBody>
          <a:bodyPr wrap="square">
            <a:spAutoFit/>
          </a:bodyPr>
          <a:lstStyle/>
          <a:p>
            <a:pPr>
              <a:defRPr sz="1500" b="1">
                <a:solidFill>
                  <a:srgbClr val="F8FAFC"/>
                </a:solidFill>
              </a:defRPr>
            </a:pPr>
            <a:r>
              <a:t>OVERWRITE (Replace)</a:t>
            </a:r>
          </a:p>
          <a:p>
            <a:pPr>
              <a:spcBef>
                <a:spcPts val="1200"/>
              </a:spcBef>
              <a:defRPr sz="1200">
                <a:solidFill>
                  <a:srgbClr val="94A3B8"/>
                </a:solidFill>
              </a:defRPr>
            </a:pPr>
            <a:r>
              <a:t>Atomically replaces existing target files with fresh data from the source. Ideal for synchronizing builds, updating assets, or deploying updated directory distributions.</a:t>
            </a:r>
          </a:p>
        </p:txBody>
      </p:sp>
      <p:sp>
        <p:nvSpPr>
          <p:cNvPr id="11" name="Rounded Rectangle 10"/>
          <p:cNvSpPr/>
          <p:nvPr/>
        </p:nvSpPr>
        <p:spPr>
          <a:xfrm>
            <a:off x="8046720" y="1645920"/>
            <a:ext cx="3383280" cy="31089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645920"/>
            <a:ext cx="3383280" cy="914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920240"/>
            <a:ext cx="2926080" cy="2743200"/>
          </a:xfrm>
          <a:prstGeom prst="rect">
            <a:avLst/>
          </a:prstGeom>
          <a:noFill/>
        </p:spPr>
        <p:txBody>
          <a:bodyPr wrap="square">
            <a:spAutoFit/>
          </a:bodyPr>
          <a:lstStyle/>
          <a:p>
            <a:pPr>
              <a:defRPr sz="1500" b="1">
                <a:solidFill>
                  <a:srgbClr val="F8FAFC"/>
                </a:solidFill>
              </a:defRPr>
            </a:pPr>
            <a:r>
              <a:t>SKIP (Preserve Existing)</a:t>
            </a:r>
          </a:p>
          <a:p>
            <a:pPr>
              <a:spcBef>
                <a:spcPts val="1200"/>
              </a:spcBef>
              <a:defRPr sz="1200">
                <a:solidFill>
                  <a:srgbClr val="94A3B8"/>
                </a:solidFill>
              </a:defRPr>
            </a:pPr>
            <a:r>
              <a:t>Skips files that already exist in the destination without re-transferring. Maximizes speed during incremental transfers and avoids duplicate I/O workload.</a:t>
            </a:r>
          </a:p>
        </p:txBody>
      </p:sp>
      <p:sp>
        <p:nvSpPr>
          <p:cNvPr id="14" name="Rounded Rectangle 13"/>
          <p:cNvSpPr/>
          <p:nvPr/>
        </p:nvSpPr>
        <p:spPr>
          <a:xfrm>
            <a:off x="731520" y="5029200"/>
            <a:ext cx="10698480" cy="11887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120640"/>
            <a:ext cx="10332720" cy="1005840"/>
          </a:xfrm>
          <a:prstGeom prst="rect">
            <a:avLst/>
          </a:prstGeom>
          <a:noFill/>
        </p:spPr>
        <p:txBody>
          <a:bodyPr wrap="square">
            <a:spAutoFit/>
          </a:bodyPr>
          <a:lstStyle/>
          <a:p>
            <a:pPr>
              <a:defRPr b="1" sz="1300">
                <a:solidFill>
                  <a:srgbClr val="06B6D4"/>
                </a:solidFill>
              </a:defRPr>
            </a:pPr>
            <a:r>
              <a:t>Interactive Conflict Modal &amp; Pre-Flight Checks</a:t>
            </a:r>
          </a:p>
          <a:p>
            <a:pPr>
              <a:spcBef>
                <a:spcPts val="400"/>
              </a:spcBef>
              <a:defRPr sz="1100">
                <a:solidFill>
                  <a:srgbClr val="F8FAFC"/>
                </a:solidFill>
              </a:defRPr>
            </a:pPr>
            <a:r>
              <a:t>When collisions are detected during directory planning, the user can either apply a default policy globally or resolve conflicting files interactively via the built-in Conflict Resolution modal.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6B6D4"/>
                </a:solidFill>
                <a:latin typeface="Arial"/>
              </a:defRPr>
            </a:pPr>
            <a:r>
              <a:t>SECURITY ARCHITECTURE</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latin typeface="Arial"/>
              </a:defRPr>
            </a:pPr>
            <a:r>
              <a:t>Zero-Trust Security &amp; Local Isolation Guarantee</a:t>
            </a:r>
          </a:p>
        </p:txBody>
      </p:sp>
      <p:sp>
        <p:nvSpPr>
          <p:cNvPr id="5" name="Rounded Rectangle 4"/>
          <p:cNvSpPr/>
          <p:nvPr/>
        </p:nvSpPr>
        <p:spPr>
          <a:xfrm>
            <a:off x="731520" y="1645920"/>
            <a:ext cx="525780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109728" cy="21031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828800"/>
            <a:ext cx="4663440" cy="1737360"/>
          </a:xfrm>
          <a:prstGeom prst="rect">
            <a:avLst/>
          </a:prstGeom>
          <a:noFill/>
        </p:spPr>
        <p:txBody>
          <a:bodyPr wrap="square">
            <a:spAutoFit/>
          </a:bodyPr>
          <a:lstStyle/>
          <a:p>
            <a:pPr>
              <a:defRPr sz="1500" b="1">
                <a:solidFill>
                  <a:srgbClr val="F8FAFC"/>
                </a:solidFill>
              </a:defRPr>
            </a:pPr>
            <a:r>
              <a:t>127.0.0.1 Loopback Only</a:t>
            </a:r>
          </a:p>
          <a:p>
            <a:pPr>
              <a:spcBef>
                <a:spcPts val="800"/>
              </a:spcBef>
              <a:defRPr sz="1200">
                <a:solidFill>
                  <a:srgbClr val="94A3B8"/>
                </a:solidFill>
              </a:defRPr>
            </a:pPr>
            <a:r>
              <a:t>The Node.js agent binds strictly to localhost (127.0.0.1). It rejects 0.0.0.0 binding, ensuring zero exposure to the LAN or external internet.</a:t>
            </a:r>
          </a:p>
        </p:txBody>
      </p:sp>
      <p:sp>
        <p:nvSpPr>
          <p:cNvPr id="8" name="Rounded Rectangle 7"/>
          <p:cNvSpPr/>
          <p:nvPr/>
        </p:nvSpPr>
        <p:spPr>
          <a:xfrm>
            <a:off x="6172200" y="1645920"/>
            <a:ext cx="525780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2200" y="1645920"/>
            <a:ext cx="109728" cy="21031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828800"/>
            <a:ext cx="4663440" cy="1737360"/>
          </a:xfrm>
          <a:prstGeom prst="rect">
            <a:avLst/>
          </a:prstGeom>
          <a:noFill/>
        </p:spPr>
        <p:txBody>
          <a:bodyPr wrap="square">
            <a:spAutoFit/>
          </a:bodyPr>
          <a:lstStyle/>
          <a:p>
            <a:pPr>
              <a:defRPr sz="1500" b="1">
                <a:solidFill>
                  <a:srgbClr val="F8FAFC"/>
                </a:solidFill>
              </a:defRPr>
            </a:pPr>
            <a:r>
              <a:t>Cryptographic Bearer Token</a:t>
            </a:r>
          </a:p>
          <a:p>
            <a:pPr>
              <a:spcBef>
                <a:spcPts val="800"/>
              </a:spcBef>
              <a:defRPr sz="1200">
                <a:solidFill>
                  <a:srgbClr val="94A3B8"/>
                </a:solidFill>
              </a:defRPr>
            </a:pPr>
            <a:r>
              <a:t>Every WebSocket command and HTTP endpoint requires a cryptographically generated 32-character token shown only in the local terminal console.</a:t>
            </a:r>
          </a:p>
        </p:txBody>
      </p:sp>
      <p:sp>
        <p:nvSpPr>
          <p:cNvPr id="11" name="Rounded Rectangle 10"/>
          <p:cNvSpPr/>
          <p:nvPr/>
        </p:nvSpPr>
        <p:spPr>
          <a:xfrm>
            <a:off x="731520" y="3977640"/>
            <a:ext cx="525780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977640"/>
            <a:ext cx="109728" cy="210312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160520"/>
            <a:ext cx="4663440" cy="1737360"/>
          </a:xfrm>
          <a:prstGeom prst="rect">
            <a:avLst/>
          </a:prstGeom>
          <a:noFill/>
        </p:spPr>
        <p:txBody>
          <a:bodyPr wrap="square">
            <a:spAutoFit/>
          </a:bodyPr>
          <a:lstStyle/>
          <a:p>
            <a:pPr>
              <a:defRPr sz="1500" b="1">
                <a:solidFill>
                  <a:srgbClr val="F8FAFC"/>
                </a:solidFill>
              </a:defRPr>
            </a:pPr>
            <a:r>
              <a:t>Path Whitelist Containment</a:t>
            </a:r>
          </a:p>
          <a:p>
            <a:pPr>
              <a:spcBef>
                <a:spcPts val="800"/>
              </a:spcBef>
              <a:defRPr sz="1200">
                <a:solidFill>
                  <a:srgbClr val="94A3B8"/>
                </a:solidFill>
              </a:defRPr>
            </a:pPr>
            <a:r>
              <a:t>Administrators can restrict file operations to designated directories (e.g., C:\Projects). Path traversal attempts (../) are actively blocked.</a:t>
            </a:r>
          </a:p>
        </p:txBody>
      </p:sp>
      <p:sp>
        <p:nvSpPr>
          <p:cNvPr id="14" name="Rounded Rectangle 13"/>
          <p:cNvSpPr/>
          <p:nvPr/>
        </p:nvSpPr>
        <p:spPr>
          <a:xfrm>
            <a:off x="6172200" y="3977640"/>
            <a:ext cx="525780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3977640"/>
            <a:ext cx="109728" cy="21031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4160520"/>
            <a:ext cx="4663440" cy="1737360"/>
          </a:xfrm>
          <a:prstGeom prst="rect">
            <a:avLst/>
          </a:prstGeom>
          <a:noFill/>
        </p:spPr>
        <p:txBody>
          <a:bodyPr wrap="square">
            <a:spAutoFit/>
          </a:bodyPr>
          <a:lstStyle/>
          <a:p>
            <a:pPr>
              <a:defRPr sz="1500" b="1">
                <a:solidFill>
                  <a:srgbClr val="F8FAFC"/>
                </a:solidFill>
              </a:defRPr>
            </a:pPr>
            <a:r>
              <a:t>Zero Data Exfiltration</a:t>
            </a:r>
          </a:p>
          <a:p>
            <a:pPr>
              <a:spcBef>
                <a:spcPts val="800"/>
              </a:spcBef>
              <a:defRPr sz="1200">
                <a:solidFill>
                  <a:srgbClr val="94A3B8"/>
                </a:solidFill>
              </a:defRPr>
            </a:pPr>
            <a:r>
              <a:t>File payloads never enter browser memory or network packets. All read/write operations remain strictly between physical storage sectors.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6B6D4"/>
                </a:solidFill>
                <a:latin typeface="Arial"/>
              </a:defRPr>
            </a:pPr>
            <a:r>
              <a:t>PERFORMANCE BENCHMARKS</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latin typeface="Arial"/>
              </a:defRPr>
            </a:pPr>
            <a:r>
              <a:t>Performance: Constant Memory Streaming vs Buffering</a:t>
            </a:r>
          </a:p>
        </p:txBody>
      </p:sp>
      <p:sp>
        <p:nvSpPr>
          <p:cNvPr id="5" name="Rounded Rectangle 4"/>
          <p:cNvSpPr/>
          <p:nvPr/>
        </p:nvSpPr>
        <p:spPr>
          <a:xfrm>
            <a:off x="7315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5212080" cy="91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4663440" cy="3931920"/>
          </a:xfrm>
          <a:prstGeom prst="rect">
            <a:avLst/>
          </a:prstGeom>
          <a:noFill/>
        </p:spPr>
        <p:txBody>
          <a:bodyPr wrap="square">
            <a:spAutoFit/>
          </a:bodyPr>
          <a:lstStyle/>
          <a:p>
            <a:pPr>
              <a:defRPr b="1" sz="1600">
                <a:solidFill>
                  <a:srgbClr val="F8FAFC"/>
                </a:solidFill>
              </a:defRPr>
            </a:pPr>
            <a:r>
              <a:t>Traditional Browser / Buffer Approach</a:t>
            </a:r>
          </a:p>
          <a:p>
            <a:pPr>
              <a:spcBef>
                <a:spcPts val="800"/>
              </a:spcBef>
              <a:defRPr sz="1200">
                <a:solidFill>
                  <a:srgbClr val="F87171"/>
                </a:solidFill>
              </a:defRPr>
            </a:pPr>
            <a:r>
              <a:t>❌ Memory Model: O(N) Linear RAM Growth</a:t>
            </a:r>
          </a:p>
          <a:p>
            <a:pPr>
              <a:spcBef>
                <a:spcPts val="800"/>
              </a:spcBef>
              <a:defRPr sz="1200">
                <a:solidFill>
                  <a:srgbClr val="F87171"/>
                </a:solidFill>
              </a:defRPr>
            </a:pPr>
            <a:r>
              <a:t>❌ 1 GB File = 1 GB RAM Consumed</a:t>
            </a:r>
          </a:p>
          <a:p>
            <a:pPr>
              <a:spcBef>
                <a:spcPts val="800"/>
              </a:spcBef>
              <a:defRPr sz="1200">
                <a:solidFill>
                  <a:srgbClr val="F87171"/>
                </a:solidFill>
              </a:defRPr>
            </a:pPr>
            <a:r>
              <a:t>❌ 10 GB File = Browser / Process Out-Of-Memory Crash</a:t>
            </a:r>
          </a:p>
          <a:p>
            <a:pPr>
              <a:spcBef>
                <a:spcPts val="800"/>
              </a:spcBef>
              <a:defRPr sz="1200">
                <a:solidFill>
                  <a:srgbClr val="F87171"/>
                </a:solidFill>
              </a:defRPr>
            </a:pPr>
            <a:r>
              <a:t>❌ CPU Spike: Garbage collector thrashes on large buffers</a:t>
            </a:r>
          </a:p>
          <a:p>
            <a:pPr>
              <a:spcBef>
                <a:spcPts val="800"/>
              </a:spcBef>
              <a:defRPr sz="1200">
                <a:solidFill>
                  <a:srgbClr val="F87171"/>
                </a:solidFill>
              </a:defRPr>
            </a:pPr>
            <a:r>
              <a:t>❌ Latency: Must buffer entire file before writing starts</a:t>
            </a:r>
          </a:p>
          <a:p>
            <a:pPr>
              <a:spcBef>
                <a:spcPts val="800"/>
              </a:spcBef>
              <a:defRPr sz="1200">
                <a:solidFill>
                  <a:srgbClr val="F87171"/>
                </a:solidFill>
              </a:defRPr>
            </a:pPr>
            <a:r>
              <a:t>❌ Throughput: Heavily bottlenecked by memory bus</a:t>
            </a:r>
          </a:p>
        </p:txBody>
      </p:sp>
      <p:sp>
        <p:nvSpPr>
          <p:cNvPr id="8" name="Rounded Rectangle 7"/>
          <p:cNvSpPr/>
          <p:nvPr/>
        </p:nvSpPr>
        <p:spPr>
          <a:xfrm>
            <a:off x="62179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5212080"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920240"/>
            <a:ext cx="4663440" cy="3931920"/>
          </a:xfrm>
          <a:prstGeom prst="rect">
            <a:avLst/>
          </a:prstGeom>
          <a:noFill/>
        </p:spPr>
        <p:txBody>
          <a:bodyPr wrap="square">
            <a:spAutoFit/>
          </a:bodyPr>
          <a:lstStyle/>
          <a:p>
            <a:pPr>
              <a:defRPr b="1" sz="1600">
                <a:solidFill>
                  <a:srgbClr val="F8FAFC"/>
                </a:solidFill>
              </a:defRPr>
            </a:pPr>
            <a:r>
              <a:t>File Transfer Agent (Chunked Streaming)</a:t>
            </a:r>
          </a:p>
          <a:p>
            <a:pPr>
              <a:spcBef>
                <a:spcPts val="800"/>
              </a:spcBef>
              <a:defRPr sz="1200">
                <a:solidFill>
                  <a:srgbClr val="34D399"/>
                </a:solidFill>
              </a:defRPr>
            </a:pPr>
            <a:r>
              <a:t>✓ Memory Model: O(1) Flat Constant Footprint (~30 MB RAM)</a:t>
            </a:r>
          </a:p>
          <a:p>
            <a:pPr>
              <a:spcBef>
                <a:spcPts val="800"/>
              </a:spcBef>
              <a:defRPr sz="1200">
                <a:solidFill>
                  <a:srgbClr val="34D399"/>
                </a:solidFill>
              </a:defRPr>
            </a:pPr>
            <a:r>
              <a:t>✓ 1 GB File = 64 KB Active Buffer Chunk</a:t>
            </a:r>
          </a:p>
          <a:p>
            <a:pPr>
              <a:spcBef>
                <a:spcPts val="800"/>
              </a:spcBef>
              <a:defRPr sz="1200">
                <a:solidFill>
                  <a:srgbClr val="34D399"/>
                </a:solidFill>
              </a:defRPr>
            </a:pPr>
            <a:r>
              <a:t>✓ 100+ GB File = Stable memory, zero risk of crashing</a:t>
            </a:r>
          </a:p>
          <a:p>
            <a:pPr>
              <a:spcBef>
                <a:spcPts val="800"/>
              </a:spcBef>
              <a:defRPr sz="1200">
                <a:solidFill>
                  <a:srgbClr val="34D399"/>
                </a:solidFill>
              </a:defRPr>
            </a:pPr>
            <a:r>
              <a:t>✓ Backpressure Control: Read pauses if disk write queue is full</a:t>
            </a:r>
          </a:p>
          <a:p>
            <a:pPr>
              <a:spcBef>
                <a:spcPts val="800"/>
              </a:spcBef>
              <a:defRPr sz="1200">
                <a:solidFill>
                  <a:srgbClr val="34D399"/>
                </a:solidFill>
              </a:defRPr>
            </a:pPr>
            <a:r>
              <a:t>✓ Instant Start: Transfer begins writing on the first chunk</a:t>
            </a:r>
          </a:p>
          <a:p>
            <a:pPr>
              <a:spcBef>
                <a:spcPts val="800"/>
              </a:spcBef>
              <a:defRPr sz="1200">
                <a:solidFill>
                  <a:srgbClr val="34D399"/>
                </a:solidFill>
              </a:defRPr>
            </a:pPr>
            <a:r>
              <a:t>✓ Tuning: Chunk size configurable from 64KB up to 4MB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6B6D4"/>
                </a:solidFill>
                <a:latin typeface="Arial"/>
              </a:defRPr>
            </a:pPr>
            <a:r>
              <a:t>IMPLEMENTATION DETAILS</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latin typeface="Arial"/>
              </a:defRPr>
            </a:pPr>
            <a:r>
              <a:t>Technology Stack &amp; Engineering Rigor</a:t>
            </a:r>
          </a:p>
        </p:txBody>
      </p:sp>
      <p:sp>
        <p:nvSpPr>
          <p:cNvPr id="5" name="Rounded Rectangle 4"/>
          <p:cNvSpPr/>
          <p:nvPr/>
        </p:nvSpPr>
        <p:spPr>
          <a:xfrm>
            <a:off x="731520" y="1645920"/>
            <a:ext cx="33832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383280" cy="914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2926080" cy="3931920"/>
          </a:xfrm>
          <a:prstGeom prst="rect">
            <a:avLst/>
          </a:prstGeom>
          <a:noFill/>
        </p:spPr>
        <p:txBody>
          <a:bodyPr wrap="square">
            <a:spAutoFit/>
          </a:bodyPr>
          <a:lstStyle/>
          <a:p>
            <a:pPr>
              <a:defRPr sz="1600" b="1">
                <a:solidFill>
                  <a:srgbClr val="F8FAFC"/>
                </a:solidFill>
              </a:defRPr>
            </a:pPr>
            <a:r>
              <a:t>Frontend Application</a:t>
            </a:r>
          </a:p>
          <a:p>
            <a:pPr>
              <a:spcBef>
                <a:spcPts val="1000"/>
              </a:spcBef>
              <a:defRPr sz="1100">
                <a:solidFill>
                  <a:srgbClr val="94A3B8"/>
                </a:solidFill>
              </a:defRPr>
            </a:pPr>
            <a:r>
              <a:t>Framework: React 18 with TypeScript</a:t>
            </a:r>
          </a:p>
          <a:p>
            <a:pPr>
              <a:spcBef>
                <a:spcPts val="1000"/>
              </a:spcBef>
              <a:defRPr sz="1100">
                <a:solidFill>
                  <a:srgbClr val="94A3B8"/>
                </a:solidFill>
              </a:defRPr>
            </a:pPr>
            <a:r>
              <a:t>Build System: Vite (sub-second HMR)</a:t>
            </a:r>
          </a:p>
          <a:p>
            <a:pPr>
              <a:spcBef>
                <a:spcPts val="1000"/>
              </a:spcBef>
              <a:defRPr sz="1100">
                <a:solidFill>
                  <a:srgbClr val="94A3B8"/>
                </a:solidFill>
              </a:defRPr>
            </a:pPr>
            <a:r>
              <a:t>Styling: Tailwind CSS + Custom Dark Mode</a:t>
            </a:r>
          </a:p>
          <a:p>
            <a:pPr>
              <a:spcBef>
                <a:spcPts val="1000"/>
              </a:spcBef>
              <a:defRPr sz="1100">
                <a:solidFill>
                  <a:srgbClr val="94A3B8"/>
                </a:solidFill>
              </a:defRPr>
            </a:pPr>
            <a:r>
              <a:t>Icons: Lucide React Icons</a:t>
            </a:r>
          </a:p>
          <a:p>
            <a:pPr>
              <a:spcBef>
                <a:spcPts val="1000"/>
              </a:spcBef>
              <a:defRPr sz="1100">
                <a:solidFill>
                  <a:srgbClr val="94A3B8"/>
                </a:solidFill>
              </a:defRPr>
            </a:pPr>
            <a:r>
              <a:t>Architecture: Custom Reactive Hooks (useWebSocket, useTransfers)</a:t>
            </a:r>
          </a:p>
        </p:txBody>
      </p:sp>
      <p:sp>
        <p:nvSpPr>
          <p:cNvPr id="8" name="Rounded Rectangle 7"/>
          <p:cNvSpPr/>
          <p:nvPr/>
        </p:nvSpPr>
        <p:spPr>
          <a:xfrm>
            <a:off x="4389120" y="1645920"/>
            <a:ext cx="33832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645920"/>
            <a:ext cx="3383280" cy="9144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920240"/>
            <a:ext cx="2926080" cy="3931920"/>
          </a:xfrm>
          <a:prstGeom prst="rect">
            <a:avLst/>
          </a:prstGeom>
          <a:noFill/>
        </p:spPr>
        <p:txBody>
          <a:bodyPr wrap="square">
            <a:spAutoFit/>
          </a:bodyPr>
          <a:lstStyle/>
          <a:p>
            <a:pPr>
              <a:defRPr sz="1600" b="1">
                <a:solidFill>
                  <a:srgbClr val="F8FAFC"/>
                </a:solidFill>
              </a:defRPr>
            </a:pPr>
            <a:r>
              <a:t>Local Agent Core</a:t>
            </a:r>
          </a:p>
          <a:p>
            <a:pPr>
              <a:spcBef>
                <a:spcPts val="1000"/>
              </a:spcBef>
              <a:defRPr sz="1100">
                <a:solidFill>
                  <a:srgbClr val="94A3B8"/>
                </a:solidFill>
              </a:defRPr>
            </a:pPr>
            <a:r>
              <a:t>Runtime: Node.js 18+ (LTS)</a:t>
            </a:r>
          </a:p>
          <a:p>
            <a:pPr>
              <a:spcBef>
                <a:spcPts val="1000"/>
              </a:spcBef>
              <a:defRPr sz="1100">
                <a:solidFill>
                  <a:srgbClr val="94A3B8"/>
                </a:solidFill>
              </a:defRPr>
            </a:pPr>
            <a:r>
              <a:t>Language: TypeScript (Strict Type-checking)</a:t>
            </a:r>
          </a:p>
          <a:p>
            <a:pPr>
              <a:spcBef>
                <a:spcPts val="1000"/>
              </a:spcBef>
              <a:defRPr sz="1100">
                <a:solidFill>
                  <a:srgbClr val="94A3B8"/>
                </a:solidFill>
              </a:defRPr>
            </a:pPr>
            <a:r>
              <a:t>Communication: ws (Ultra-lightweight WebSocket) + Express</a:t>
            </a:r>
          </a:p>
          <a:p>
            <a:pPr>
              <a:spcBef>
                <a:spcPts val="1000"/>
              </a:spcBef>
              <a:defRPr sz="1100">
                <a:solidFill>
                  <a:srgbClr val="94A3B8"/>
                </a:solidFill>
              </a:defRPr>
            </a:pPr>
            <a:r>
              <a:t>Disk Engine: Node.js native fs/promises &amp; stream API</a:t>
            </a:r>
          </a:p>
          <a:p>
            <a:pPr>
              <a:spcBef>
                <a:spcPts val="1000"/>
              </a:spcBef>
              <a:defRPr sz="1100">
                <a:solidFill>
                  <a:srgbClr val="94A3B8"/>
                </a:solidFill>
              </a:defRPr>
            </a:pPr>
            <a:r>
              <a:t>Identity: Cryptographic UUID &amp; Token generation</a:t>
            </a:r>
          </a:p>
        </p:txBody>
      </p:sp>
      <p:sp>
        <p:nvSpPr>
          <p:cNvPr id="11" name="Rounded Rectangle 10"/>
          <p:cNvSpPr/>
          <p:nvPr/>
        </p:nvSpPr>
        <p:spPr>
          <a:xfrm>
            <a:off x="8046720" y="1645920"/>
            <a:ext cx="33832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645920"/>
            <a:ext cx="3383280"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920240"/>
            <a:ext cx="2926080" cy="3931920"/>
          </a:xfrm>
          <a:prstGeom prst="rect">
            <a:avLst/>
          </a:prstGeom>
          <a:noFill/>
        </p:spPr>
        <p:txBody>
          <a:bodyPr wrap="square">
            <a:spAutoFit/>
          </a:bodyPr>
          <a:lstStyle/>
          <a:p>
            <a:pPr>
              <a:defRPr sz="1600" b="1">
                <a:solidFill>
                  <a:srgbClr val="F8FAFC"/>
                </a:solidFill>
              </a:defRPr>
            </a:pPr>
            <a:r>
              <a:t>Shared &amp; Deployment</a:t>
            </a:r>
          </a:p>
          <a:p>
            <a:pPr>
              <a:spcBef>
                <a:spcPts val="1000"/>
              </a:spcBef>
              <a:defRPr sz="1100">
                <a:solidFill>
                  <a:srgbClr val="94A3B8"/>
                </a:solidFill>
              </a:defRPr>
            </a:pPr>
            <a:r>
              <a:t>Shared Protocol: @shared/types.ts contract</a:t>
            </a:r>
          </a:p>
          <a:p>
            <a:pPr>
              <a:spcBef>
                <a:spcPts val="1000"/>
              </a:spcBef>
              <a:defRPr sz="1100">
                <a:solidFill>
                  <a:srgbClr val="94A3B8"/>
                </a:solidFill>
              </a:defRPr>
            </a:pPr>
            <a:r>
              <a:t>Scripts: start.bat (Win) &amp; start.sh (Unix/Mac)</a:t>
            </a:r>
          </a:p>
          <a:p>
            <a:pPr>
              <a:spcBef>
                <a:spcPts val="1000"/>
              </a:spcBef>
              <a:defRPr sz="1100">
                <a:solidFill>
                  <a:srgbClr val="94A3B8"/>
                </a:solidFill>
              </a:defRPr>
            </a:pPr>
            <a:r>
              <a:t>Concurrency: p-limit queue scheduling</a:t>
            </a:r>
          </a:p>
          <a:p>
            <a:pPr>
              <a:spcBef>
                <a:spcPts val="1000"/>
              </a:spcBef>
              <a:defRPr sz="1100">
                <a:solidFill>
                  <a:srgbClr val="94A3B8"/>
                </a:solidFill>
              </a:defRPr>
            </a:pPr>
            <a:r>
              <a:t>Port Defaults: Agent: 3456 | HTTP: 3457 | UI: 5173</a:t>
            </a:r>
          </a:p>
          <a:p>
            <a:pPr>
              <a:spcBef>
                <a:spcPts val="1000"/>
              </a:spcBef>
              <a:defRPr sz="1100">
                <a:solidFill>
                  <a:srgbClr val="94A3B8"/>
                </a:solidFill>
              </a:defRPr>
            </a:pPr>
            <a:r>
              <a:t>License: Open-Source MIT License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6B6D4"/>
                </a:solidFill>
                <a:latin typeface="Arial"/>
              </a:defRPr>
            </a:pPr>
            <a:r>
              <a:t>DEMONSTRATION GUIDE</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latin typeface="Arial"/>
              </a:defRPr>
            </a:pPr>
            <a:r>
              <a:t>Live Demonstration Walkthrough (3-Minute Script)</a:t>
            </a:r>
          </a:p>
        </p:txBody>
      </p:sp>
      <p:sp>
        <p:nvSpPr>
          <p:cNvPr id="5" name="Rounded Rectangle 4"/>
          <p:cNvSpPr/>
          <p:nvPr/>
        </p:nvSpPr>
        <p:spPr>
          <a:xfrm>
            <a:off x="731520" y="1645920"/>
            <a:ext cx="10698480" cy="777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109728" cy="7772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37360"/>
            <a:ext cx="10241280" cy="594360"/>
          </a:xfrm>
          <a:prstGeom prst="rect">
            <a:avLst/>
          </a:prstGeom>
          <a:noFill/>
        </p:spPr>
        <p:txBody>
          <a:bodyPr wrap="square">
            <a:spAutoFit/>
          </a:bodyPr>
          <a:lstStyle/>
          <a:p>
            <a:pPr>
              <a:defRPr b="1" sz="1300">
                <a:solidFill>
                  <a:srgbClr val="38BDF8"/>
                </a:solidFill>
              </a:defRPr>
            </a:pPr>
            <a:r>
              <a:t>Step 1: One-Click Startup  —  </a:t>
            </a:r>
            <a:r>
              <a:rPr b="0" sz="1100">
                <a:solidFill>
                  <a:srgbClr val="F8FAFC"/>
                </a:solidFill>
              </a:rPr>
              <a:t>Run start.bat or start.sh. Highlight the terminal console displaying the active WebSocket listener and the unique session authentication token.</a:t>
            </a:r>
          </a:p>
        </p:txBody>
      </p:sp>
      <p:sp>
        <p:nvSpPr>
          <p:cNvPr id="8" name="Rounded Rectangle 7"/>
          <p:cNvSpPr/>
          <p:nvPr/>
        </p:nvSpPr>
        <p:spPr>
          <a:xfrm>
            <a:off x="731520" y="2542032"/>
            <a:ext cx="10698480" cy="777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542032"/>
            <a:ext cx="109728" cy="77724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33472"/>
            <a:ext cx="10241280" cy="594360"/>
          </a:xfrm>
          <a:prstGeom prst="rect">
            <a:avLst/>
          </a:prstGeom>
          <a:noFill/>
        </p:spPr>
        <p:txBody>
          <a:bodyPr wrap="square">
            <a:spAutoFit/>
          </a:bodyPr>
          <a:lstStyle/>
          <a:p>
            <a:pPr>
              <a:defRPr b="1" sz="1300">
                <a:solidFill>
                  <a:srgbClr val="06B6D4"/>
                </a:solidFill>
              </a:defRPr>
            </a:pPr>
            <a:r>
              <a:t>Step 2: Frontend Connection  —  </a:t>
            </a:r>
            <a:r>
              <a:rPr b="0" sz="1100">
                <a:solidFill>
                  <a:srgbClr val="F8FAFC"/>
                </a:solidFill>
              </a:rPr>
              <a:t>Open http://localhost:5173 in the browser. Point out the live green 'Connected' indicator and automatic token validation.</a:t>
            </a:r>
          </a:p>
        </p:txBody>
      </p:sp>
      <p:sp>
        <p:nvSpPr>
          <p:cNvPr id="11" name="Rounded Rectangle 10"/>
          <p:cNvSpPr/>
          <p:nvPr/>
        </p:nvSpPr>
        <p:spPr>
          <a:xfrm>
            <a:off x="731520" y="3438144"/>
            <a:ext cx="10698480" cy="777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438144"/>
            <a:ext cx="109728" cy="77724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529584"/>
            <a:ext cx="10241280" cy="594360"/>
          </a:xfrm>
          <a:prstGeom prst="rect">
            <a:avLst/>
          </a:prstGeom>
          <a:noFill/>
        </p:spPr>
        <p:txBody>
          <a:bodyPr wrap="square">
            <a:spAutoFit/>
          </a:bodyPr>
          <a:lstStyle/>
          <a:p>
            <a:pPr>
              <a:defRPr b="1" sz="1300">
                <a:solidFill>
                  <a:srgbClr val="A855F7"/>
                </a:solidFill>
              </a:defRPr>
            </a:pPr>
            <a:r>
              <a:t>Step 3: Source &amp; Destination Setup  —  </a:t>
            </a:r>
            <a:r>
              <a:rPr b="0" sz="1100">
                <a:solidFill>
                  <a:srgbClr val="F8FAFC"/>
                </a:solidFill>
              </a:rPr>
              <a:t>Use the native folder browser modal to pick a large directory (e.g. 5GB). Alternatively, demonstrate dragging a folder directly into the input.</a:t>
            </a:r>
          </a:p>
        </p:txBody>
      </p:sp>
      <p:sp>
        <p:nvSpPr>
          <p:cNvPr id="14" name="Rounded Rectangle 13"/>
          <p:cNvSpPr/>
          <p:nvPr/>
        </p:nvSpPr>
        <p:spPr>
          <a:xfrm>
            <a:off x="731520" y="4334256"/>
            <a:ext cx="10698480" cy="777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334256"/>
            <a:ext cx="109728" cy="7772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425696"/>
            <a:ext cx="10241280" cy="594360"/>
          </a:xfrm>
          <a:prstGeom prst="rect">
            <a:avLst/>
          </a:prstGeom>
          <a:noFill/>
        </p:spPr>
        <p:txBody>
          <a:bodyPr wrap="square">
            <a:spAutoFit/>
          </a:bodyPr>
          <a:lstStyle/>
          <a:p>
            <a:pPr>
              <a:defRPr b="1" sz="1300">
                <a:solidFill>
                  <a:srgbClr val="10B981"/>
                </a:solidFill>
              </a:defRPr>
            </a:pPr>
            <a:r>
              <a:t>Step 4: Active Transfer &amp; Telemetry  —  </a:t>
            </a:r>
            <a:r>
              <a:rPr b="0" sz="1100">
                <a:solidFill>
                  <a:srgbClr val="F8FAFC"/>
                </a:solidFill>
              </a:rPr>
              <a:t>Click 'Start Transfer'. Direct the audience's attention to the real-time speed in MB/s, ETA countdown, and file-by-file progress bars.</a:t>
            </a:r>
          </a:p>
        </p:txBody>
      </p:sp>
      <p:sp>
        <p:nvSpPr>
          <p:cNvPr id="17" name="Rounded Rectangle 16"/>
          <p:cNvSpPr/>
          <p:nvPr/>
        </p:nvSpPr>
        <p:spPr>
          <a:xfrm>
            <a:off x="731520" y="5230368"/>
            <a:ext cx="10698480" cy="777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5230368"/>
            <a:ext cx="109728"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5321808"/>
            <a:ext cx="10241280" cy="594360"/>
          </a:xfrm>
          <a:prstGeom prst="rect">
            <a:avLst/>
          </a:prstGeom>
          <a:noFill/>
        </p:spPr>
        <p:txBody>
          <a:bodyPr wrap="square">
            <a:spAutoFit/>
          </a:bodyPr>
          <a:lstStyle/>
          <a:p>
            <a:pPr>
              <a:defRPr b="1" sz="1300">
                <a:solidFill>
                  <a:srgbClr val="F59E0B"/>
                </a:solidFill>
              </a:defRPr>
            </a:pPr>
            <a:r>
              <a:t>Step 5: Conflict Resolution &amp; History  —  </a:t>
            </a:r>
            <a:r>
              <a:rPr b="0" sz="1100">
                <a:solidFill>
                  <a:srgbClr val="F8FAFC"/>
                </a:solidFill>
              </a:rPr>
              <a:t>Initiate a duplicate transfer to trigger the Conflict Resolution Modal. Show auto-rename in action, then review the Transfer History panel.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06B6D4"/>
                </a:solidFill>
                <a:latin typeface="Arial"/>
              </a:defRPr>
            </a:pPr>
            <a:r>
              <a:t>CONCLUSION</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latin typeface="Arial"/>
              </a:defRPr>
            </a:pPr>
            <a:r>
              <a:t>Summary, Future Roadmap &amp; Open Q&amp;A</a:t>
            </a:r>
          </a:p>
        </p:txBody>
      </p:sp>
      <p:sp>
        <p:nvSpPr>
          <p:cNvPr id="5" name="Rounded Rectangle 4"/>
          <p:cNvSpPr/>
          <p:nvPr/>
        </p:nvSpPr>
        <p:spPr>
          <a:xfrm>
            <a:off x="7315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5212080" cy="9144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4663440" cy="3931920"/>
          </a:xfrm>
          <a:prstGeom prst="rect">
            <a:avLst/>
          </a:prstGeom>
          <a:noFill/>
        </p:spPr>
        <p:txBody>
          <a:bodyPr wrap="square">
            <a:spAutoFit/>
          </a:bodyPr>
          <a:lstStyle/>
          <a:p>
            <a:pPr>
              <a:defRPr b="1" sz="1600">
                <a:solidFill>
                  <a:srgbClr val="F8FAFC"/>
                </a:solidFill>
              </a:defRPr>
            </a:pPr>
            <a:r>
              <a:t>Key Project Takeaways</a:t>
            </a:r>
          </a:p>
          <a:p>
            <a:pPr>
              <a:spcBef>
                <a:spcPts val="1200"/>
              </a:spcBef>
              <a:defRPr sz="1200">
                <a:solidFill>
                  <a:srgbClr val="94A3B8"/>
                </a:solidFill>
              </a:defRPr>
            </a:pPr>
            <a:r>
              <a:t>• Uncompromised Performance: True disk-to-disk streaming with flat ~30MB memory footprint.</a:t>
            </a:r>
          </a:p>
          <a:p>
            <a:pPr>
              <a:spcBef>
                <a:spcPts val="1200"/>
              </a:spcBef>
              <a:defRPr sz="1200">
                <a:solidFill>
                  <a:srgbClr val="94A3B8"/>
                </a:solidFill>
              </a:defRPr>
            </a:pPr>
            <a:r>
              <a:t>• Modern Web Experience: Intuitive React interface with full-duplex WebSocket live telemetry.</a:t>
            </a:r>
          </a:p>
          <a:p>
            <a:pPr>
              <a:spcBef>
                <a:spcPts val="1200"/>
              </a:spcBef>
              <a:defRPr sz="1200">
                <a:solidFill>
                  <a:srgbClr val="94A3B8"/>
                </a:solidFill>
              </a:defRPr>
            </a:pPr>
            <a:r>
              <a:t>• Zero Cloud Dependency: Localhost 127.0.0.1, token auth, and strict path sandboxing.</a:t>
            </a:r>
          </a:p>
          <a:p>
            <a:pPr>
              <a:spcBef>
                <a:spcPts val="1200"/>
              </a:spcBef>
              <a:defRPr sz="1200">
                <a:solidFill>
                  <a:srgbClr val="94A3B8"/>
                </a:solidFill>
              </a:defRPr>
            </a:pPr>
            <a:r>
              <a:t>• Production-Grade Ergonomics: Concurrency limits, pause/cancel, and intelligent conflict policies.</a:t>
            </a:r>
          </a:p>
        </p:txBody>
      </p:sp>
      <p:sp>
        <p:nvSpPr>
          <p:cNvPr id="8" name="Rounded Rectangle 7"/>
          <p:cNvSpPr/>
          <p:nvPr/>
        </p:nvSpPr>
        <p:spPr>
          <a:xfrm>
            <a:off x="6217920" y="1645920"/>
            <a:ext cx="5212080" cy="4389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5212080" cy="9144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920240"/>
            <a:ext cx="4663440" cy="3931920"/>
          </a:xfrm>
          <a:prstGeom prst="rect">
            <a:avLst/>
          </a:prstGeom>
          <a:noFill/>
        </p:spPr>
        <p:txBody>
          <a:bodyPr wrap="square">
            <a:spAutoFit/>
          </a:bodyPr>
          <a:lstStyle/>
          <a:p>
            <a:pPr>
              <a:defRPr b="1" sz="1600">
                <a:solidFill>
                  <a:srgbClr val="F8FAFC"/>
                </a:solidFill>
              </a:defRPr>
            </a:pPr>
            <a:r>
              <a:t>Future Roadmap &amp; Open Q&amp;A</a:t>
            </a:r>
          </a:p>
          <a:p>
            <a:pPr>
              <a:spcBef>
                <a:spcPts val="1200"/>
              </a:spcBef>
              <a:defRPr sz="1200">
                <a:solidFill>
                  <a:srgbClr val="94A3B8"/>
                </a:solidFill>
              </a:defRPr>
            </a:pPr>
            <a:r>
              <a:t>🚀 LAN Peer-to-Peer Transfers: Direct transfer between trusted machines on local Wi-Fi / subnet.</a:t>
            </a:r>
          </a:p>
          <a:p>
            <a:pPr>
              <a:spcBef>
                <a:spcPts val="1200"/>
              </a:spcBef>
              <a:defRPr sz="1200">
                <a:solidFill>
                  <a:srgbClr val="94A3B8"/>
                </a:solidFill>
              </a:defRPr>
            </a:pPr>
            <a:r>
              <a:t>🚀 Post-Transfer Checksums: Automated SHA-256 integrity verification for mission-critical archives.</a:t>
            </a:r>
          </a:p>
          <a:p>
            <a:pPr>
              <a:spcBef>
                <a:spcPts val="1200"/>
              </a:spcBef>
              <a:defRPr sz="1200">
                <a:solidFill>
                  <a:srgbClr val="94A3B8"/>
                </a:solidFill>
              </a:defRPr>
            </a:pPr>
            <a:r>
              <a:t>🚀 Scheduled Automation: Cron-based recurring directory synchronization and backup jobs.</a:t>
            </a:r>
          </a:p>
          <a:p>
            <a:pPr>
              <a:spcBef>
                <a:spcPts val="1200"/>
              </a:spcBef>
              <a:defRPr sz="1400" b="1">
                <a:solidFill>
                  <a:srgbClr val="10B981"/>
                </a:solidFill>
              </a:defRPr>
            </a:pPr>
            <a:r>
              <a:t>💬 Thank you! Questions and comments are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