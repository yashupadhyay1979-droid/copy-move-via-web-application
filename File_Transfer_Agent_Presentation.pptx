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 am presenting File Transfer Agent — an innovative engineering solution that enables direct, lightning-fast local file and folder operations directly through a web interface, completely eliminating browser upload bottlenecks and cloud privacy exposure.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fundamental dilemma: Users love web dashboards for their clean interface and responsive controls, but web browsers are strictly sandboxed from direct local disk I/O. As a result, typical web apps force files to be uploaded to cloud servers, wasting immense bandwidth and exposing private local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 clean architectural separation. The React web client runs entirely in the browser and acts as a control plane. It issues JSON-RPC commands over an encrypted localhost WebSocket to the Node.js agent daemon. The agent daemon executes native disk reads and writes directly on the machine. At no point do file bytes ever touch the browser or any remote server.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Venn diagram is the centerpiece of our project value proposition. Traditional web apps give you a nice UI, but force your files into the cloud. Native OS tools give you speed, but lack a web interface. File Transfer Agent sits right in the sweet spot: the elegance of web software combined with the uncompromised speed of native local storage.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the exact working flow: First, the user selects source and destination paths. Second, the agent performs pre-flight path validation and directory recursion. Third, the streaming engine moves files in 64KB chunks with automatic backpressure pausing. Fourth, real-time speed and ETA are pushed across WebSockets to update the React UI live.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six key pillars that make File Transfer Agent enterprise-grade: zero-cloud privacy, stream-based backpressure chunking, collision-free conflict resolution, cross-device EXDEV link handling, integrated native folder browsing, and live WebSocket telemetry queueing.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critical engineering challenges had to be solved: First, memory bloat when copying large files was solved using Node.js backpressure stream pausing. Second, moving files across different drives throws EXDEV in Windows and Unix; our agent catches this and falls back to a verified copy-and-unlink cycle.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numbers: 0 bytes of cloud data consumed, 64KB stream buffers that prevent RAM overload, sub-5ms WebSocket latency, and 100% saturation of native drive speeds. It completely outclasses standard web uploaders.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showcases the project trajectory: from establishing the core WebSocket daemon, building the polished React interface, resolving critical edge cases like EXDEV, to our future vision of LAN peer-to-peer transfers and chunk-level resume.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File Transfer Agent proves that web applications can break out of their sandbox constraints safely and intelligently. Thank you very much for your time.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ccent_rings.png"/>
          <p:cNvPicPr>
            <a:picLocks noChangeAspect="1"/>
          </p:cNvPicPr>
          <p:nvPr/>
        </p:nvPicPr>
        <p:blipFill>
          <a:blip r:embed="rId2"/>
          <a:stretch>
            <a:fillRect/>
          </a:stretch>
        </p:blipFill>
        <p:spPr>
          <a:xfrm>
            <a:off x="7498079" y="365760"/>
            <a:ext cx="5669280" cy="5669280"/>
          </a:xfrm>
          <a:prstGeom prst="rect">
            <a:avLst/>
          </a:prstGeom>
        </p:spPr>
      </p:pic>
      <p:sp>
        <p:nvSpPr>
          <p:cNvPr id="4" name="Rounded Rectangle 3"/>
          <p:cNvSpPr/>
          <p:nvPr/>
        </p:nvSpPr>
        <p:spPr>
          <a:xfrm>
            <a:off x="731520" y="731520"/>
            <a:ext cx="109728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121214"/>
                </a:solidFill>
                <a:latin typeface="Segoe UI"/>
              </a:defRPr>
            </a:pPr>
            <a:r>
              <a:t>PPTX</a:t>
            </a:r>
          </a:p>
        </p:txBody>
      </p:sp>
      <p:sp>
        <p:nvSpPr>
          <p:cNvPr id="5" name="TextBox 4"/>
          <p:cNvSpPr txBox="1"/>
          <p:nvPr/>
        </p:nvSpPr>
        <p:spPr>
          <a:xfrm>
            <a:off x="8686800" y="731520"/>
            <a:ext cx="2743200" cy="411480"/>
          </a:xfrm>
          <a:prstGeom prst="rect">
            <a:avLst/>
          </a:prstGeom>
          <a:noFill/>
        </p:spPr>
        <p:txBody>
          <a:bodyPr wrap="none">
            <a:spAutoFit/>
          </a:bodyPr>
          <a:lstStyle/>
          <a:p>
            <a:pPr algn="r">
              <a:defRPr b="1" sz="1200">
                <a:solidFill>
                  <a:srgbClr val="FFFFFF"/>
                </a:solidFill>
                <a:latin typeface="Segoe UI"/>
              </a:defRPr>
            </a:pPr>
            <a:r>
              <a:t>DIRTYLINE STUDIO // SPEC</a:t>
            </a:r>
          </a:p>
        </p:txBody>
      </p:sp>
      <p:sp>
        <p:nvSpPr>
          <p:cNvPr id="6" name="TextBox 5"/>
          <p:cNvSpPr txBox="1"/>
          <p:nvPr/>
        </p:nvSpPr>
        <p:spPr>
          <a:xfrm>
            <a:off x="731520" y="2011680"/>
            <a:ext cx="8686800" cy="2011680"/>
          </a:xfrm>
          <a:prstGeom prst="rect">
            <a:avLst/>
          </a:prstGeom>
          <a:noFill/>
        </p:spPr>
        <p:txBody>
          <a:bodyPr wrap="square">
            <a:spAutoFit/>
          </a:bodyPr>
          <a:lstStyle/>
          <a:p>
            <a:pPr>
              <a:defRPr sz="5200" b="1">
                <a:solidFill>
                  <a:srgbClr val="FFFFFF"/>
                </a:solidFill>
                <a:latin typeface="Segoe UI"/>
              </a:defRPr>
            </a:pPr>
            <a:r>
              <a:t>FILE TRANSFER</a:t>
            </a:r>
            <a:br/>
            <a:r>
              <a:t>AGENT</a:t>
            </a:r>
          </a:p>
        </p:txBody>
      </p:sp>
      <p:sp>
        <p:nvSpPr>
          <p:cNvPr id="7" name="TextBox 6"/>
          <p:cNvSpPr txBox="1"/>
          <p:nvPr/>
        </p:nvSpPr>
        <p:spPr>
          <a:xfrm>
            <a:off x="731520" y="4206240"/>
            <a:ext cx="6858000" cy="914400"/>
          </a:xfrm>
          <a:prstGeom prst="rect">
            <a:avLst/>
          </a:prstGeom>
          <a:noFill/>
        </p:spPr>
        <p:txBody>
          <a:bodyPr wrap="square">
            <a:spAutoFit/>
          </a:bodyPr>
          <a:lstStyle/>
          <a:p>
            <a:pPr>
              <a:defRPr sz="1500">
                <a:solidFill>
                  <a:srgbClr val="BEC3CD"/>
                </a:solidFill>
                <a:latin typeface="Segoe UI"/>
              </a:defRPr>
            </a:pPr>
            <a:r>
              <a:t>Direct local filesystem operations via modern web architecture. Zero cloud upload, high-speed streaming engine, and enterprise-grade sandboxing.</a:t>
            </a:r>
          </a:p>
        </p:txBody>
      </p:sp>
      <p:sp>
        <p:nvSpPr>
          <p:cNvPr id="8" name="Rounded Rectangle 7"/>
          <p:cNvSpPr/>
          <p:nvPr/>
        </p:nvSpPr>
        <p:spPr>
          <a:xfrm>
            <a:off x="731520" y="5486400"/>
            <a:ext cx="10728655" cy="777240"/>
          </a:xfrm>
          <a:prstGeom prst="roundRect">
            <a:avLst/>
          </a:prstGeom>
          <a:solidFill>
            <a:srgbClr val="1C1C20"/>
          </a:solidFill>
          <a:ln w="12700">
            <a:solidFill>
              <a:srgbClr val="323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623560"/>
            <a:ext cx="10362895" cy="502920"/>
          </a:xfrm>
          <a:prstGeom prst="rect">
            <a:avLst/>
          </a:prstGeom>
          <a:noFill/>
        </p:spPr>
        <p:txBody>
          <a:bodyPr wrap="none">
            <a:spAutoFit/>
          </a:bodyPr>
          <a:lstStyle/>
          <a:p>
            <a:pPr>
              <a:defRPr sz="1100">
                <a:solidFill>
                  <a:srgbClr val="DCDCE6"/>
                </a:solidFill>
                <a:latin typeface="Segoe UI"/>
              </a:defRPr>
            </a:pPr>
            <a:r>
              <a:t>AUTHOR: Yash Upadhyay (@yashupadhyay1979-droid)   |   REPO: Copy-Move-via-Web-Application   |   STACK: React 18 • Node.js • WebSocket • TypeScript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lIns="0" rIns="0" tIns="0" bIns="0">
            <a:spAutoFit/>
          </a:bodyPr>
          <a:lstStyle/>
          <a:p>
            <a:pPr>
              <a:defRPr sz="1000" b="1">
                <a:solidFill>
                  <a:srgbClr val="6B7280"/>
                </a:solidFill>
                <a:latin typeface="Segoe UI"/>
              </a:defRPr>
            </a:pPr>
            <a:r>
              <a:t>01 / THE CORE CHALLENGE</a:t>
            </a:r>
          </a:p>
        </p:txBody>
      </p:sp>
      <p:sp>
        <p:nvSpPr>
          <p:cNvPr id="4" name="TextBox 3"/>
          <p:cNvSpPr txBox="1"/>
          <p:nvPr/>
        </p:nvSpPr>
        <p:spPr>
          <a:xfrm>
            <a:off x="731520" y="777240"/>
            <a:ext cx="8686800" cy="640080"/>
          </a:xfrm>
          <a:prstGeom prst="rect">
            <a:avLst/>
          </a:prstGeom>
          <a:noFill/>
        </p:spPr>
        <p:txBody>
          <a:bodyPr wrap="square" lIns="0" rIns="0" tIns="0" bIns="0">
            <a:spAutoFit/>
          </a:bodyPr>
          <a:lstStyle/>
          <a:p>
            <a:pPr>
              <a:defRPr sz="2400" b="1">
                <a:solidFill>
                  <a:srgbClr val="111827"/>
                </a:solidFill>
                <a:latin typeface="Segoe UI"/>
              </a:defRPr>
            </a:pPr>
            <a:r>
              <a:t>THE WEB BROWSER FILE DILEMMA</a:t>
            </a:r>
          </a:p>
        </p:txBody>
      </p:sp>
      <p:sp>
        <p:nvSpPr>
          <p:cNvPr id="5" name="TextBox 4"/>
          <p:cNvSpPr txBox="1"/>
          <p:nvPr/>
        </p:nvSpPr>
        <p:spPr>
          <a:xfrm>
            <a:off x="8961120" y="457200"/>
            <a:ext cx="2468880" cy="640080"/>
          </a:xfrm>
          <a:prstGeom prst="rect">
            <a:avLst/>
          </a:prstGeom>
          <a:noFill/>
        </p:spPr>
        <p:txBody>
          <a:bodyPr wrap="none" lIns="0" rIns="0" tIns="0" bIns="0">
            <a:spAutoFit/>
          </a:bodyPr>
          <a:lstStyle/>
          <a:p>
            <a:pPr algn="r">
              <a:defRPr sz="1000" b="1">
                <a:solidFill>
                  <a:srgbClr val="6B7280"/>
                </a:solidFill>
                <a:latin typeface="Segoe UI"/>
              </a:defRPr>
            </a:pPr>
            <a:r>
              <a:t>FILE TRANSFER AGENT // P.02</a:t>
            </a:r>
          </a:p>
        </p:txBody>
      </p:sp>
      <p:sp>
        <p:nvSpPr>
          <p:cNvPr id="6" name="Rectangle 5"/>
          <p:cNvSpPr/>
          <p:nvPr/>
        </p:nvSpPr>
        <p:spPr>
          <a:xfrm>
            <a:off x="731520" y="1508760"/>
            <a:ext cx="10728655" cy="12700"/>
          </a:xfrm>
          <a:prstGeom prst="rect">
            <a:avLst/>
          </a:prstGeom>
          <a:solidFill>
            <a:srgbClr val="E1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28800"/>
            <a:ext cx="3328416" cy="42976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03120"/>
            <a:ext cx="2779776" cy="274320"/>
          </a:xfrm>
          <a:prstGeom prst="rect">
            <a:avLst/>
          </a:prstGeom>
          <a:noFill/>
        </p:spPr>
        <p:txBody>
          <a:bodyPr wrap="none">
            <a:spAutoFit/>
          </a:bodyPr>
          <a:lstStyle/>
          <a:p>
            <a:pPr>
              <a:defRPr b="1" sz="900">
                <a:solidFill>
                  <a:srgbClr val="6B7280"/>
                </a:solidFill>
                <a:latin typeface="Segoe UI"/>
              </a:defRPr>
            </a:pPr>
            <a:r>
              <a:t>BROWSER ISOLATION</a:t>
            </a:r>
          </a:p>
        </p:txBody>
      </p:sp>
      <p:sp>
        <p:nvSpPr>
          <p:cNvPr id="9" name="TextBox 8"/>
          <p:cNvSpPr txBox="1"/>
          <p:nvPr/>
        </p:nvSpPr>
        <p:spPr>
          <a:xfrm>
            <a:off x="1005840" y="2423160"/>
            <a:ext cx="2779776" cy="548640"/>
          </a:xfrm>
          <a:prstGeom prst="rect">
            <a:avLst/>
          </a:prstGeom>
          <a:noFill/>
        </p:spPr>
        <p:txBody>
          <a:bodyPr wrap="none">
            <a:spAutoFit/>
          </a:bodyPr>
          <a:lstStyle/>
          <a:p>
            <a:pPr>
              <a:defRPr b="1" sz="1600">
                <a:solidFill>
                  <a:srgbClr val="111827"/>
                </a:solidFill>
                <a:latin typeface="Segoe UI"/>
              </a:defRPr>
            </a:pPr>
            <a:r>
              <a:t>The Web Sandbox</a:t>
            </a:r>
          </a:p>
        </p:txBody>
      </p:sp>
      <p:sp>
        <p:nvSpPr>
          <p:cNvPr id="10" name="TextBox 9"/>
          <p:cNvSpPr txBox="1"/>
          <p:nvPr/>
        </p:nvSpPr>
        <p:spPr>
          <a:xfrm>
            <a:off x="1005840" y="3017520"/>
            <a:ext cx="2779776" cy="1645920"/>
          </a:xfrm>
          <a:prstGeom prst="rect">
            <a:avLst/>
          </a:prstGeom>
          <a:noFill/>
        </p:spPr>
        <p:txBody>
          <a:bodyPr wrap="square">
            <a:spAutoFit/>
          </a:bodyPr>
          <a:lstStyle/>
          <a:p>
            <a:pPr>
              <a:defRPr sz="1100">
                <a:solidFill>
                  <a:srgbClr val="4B5563"/>
                </a:solidFill>
                <a:latin typeface="Segoe UI"/>
              </a:defRPr>
            </a:pPr>
            <a:r>
              <a:t>Standard web browsers operate inside a strict security sandbox. Web apps cannot access the arbitrary native filesystem, cannot cut/move directories locally, and require uploading data across HTTP sockets.</a:t>
            </a:r>
          </a:p>
        </p:txBody>
      </p:sp>
      <p:sp>
        <p:nvSpPr>
          <p:cNvPr id="11" name="Rounded Rectangle 10"/>
          <p:cNvSpPr/>
          <p:nvPr/>
        </p:nvSpPr>
        <p:spPr>
          <a:xfrm>
            <a:off x="1005840" y="4846320"/>
            <a:ext cx="2779776" cy="914400"/>
          </a:xfrm>
          <a:prstGeom prst="round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892040"/>
            <a:ext cx="2596896" cy="457200"/>
          </a:xfrm>
          <a:prstGeom prst="rect">
            <a:avLst/>
          </a:prstGeom>
          <a:noFill/>
        </p:spPr>
        <p:txBody>
          <a:bodyPr wrap="none">
            <a:spAutoFit/>
          </a:bodyPr>
          <a:lstStyle/>
          <a:p>
            <a:pPr>
              <a:defRPr b="1" sz="2200">
                <a:solidFill>
                  <a:srgbClr val="FFFFFF"/>
                </a:solidFill>
                <a:latin typeface="Segoe UI"/>
              </a:defRPr>
            </a:pPr>
            <a:r>
              <a:t>100%</a:t>
            </a:r>
          </a:p>
        </p:txBody>
      </p:sp>
      <p:sp>
        <p:nvSpPr>
          <p:cNvPr id="13" name="TextBox 12"/>
          <p:cNvSpPr txBox="1"/>
          <p:nvPr/>
        </p:nvSpPr>
        <p:spPr>
          <a:xfrm>
            <a:off x="1097280" y="5349240"/>
            <a:ext cx="2596896" cy="320040"/>
          </a:xfrm>
          <a:prstGeom prst="rect">
            <a:avLst/>
          </a:prstGeom>
          <a:noFill/>
        </p:spPr>
        <p:txBody>
          <a:bodyPr wrap="none">
            <a:spAutoFit/>
          </a:bodyPr>
          <a:lstStyle/>
          <a:p>
            <a:pPr>
              <a:defRPr sz="900" b="1">
                <a:solidFill>
                  <a:srgbClr val="B4B9C3"/>
                </a:solidFill>
                <a:latin typeface="Segoe UI"/>
              </a:defRPr>
            </a:pPr>
            <a:r>
              <a:t>SANDBOXED EXECUTION</a:t>
            </a:r>
          </a:p>
        </p:txBody>
      </p:sp>
      <p:sp>
        <p:nvSpPr>
          <p:cNvPr id="14" name="Rounded Rectangle 13"/>
          <p:cNvSpPr/>
          <p:nvPr/>
        </p:nvSpPr>
        <p:spPr>
          <a:xfrm>
            <a:off x="4425696" y="1828800"/>
            <a:ext cx="3328416" cy="42976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0016" y="2103120"/>
            <a:ext cx="2779776" cy="274320"/>
          </a:xfrm>
          <a:prstGeom prst="rect">
            <a:avLst/>
          </a:prstGeom>
          <a:noFill/>
        </p:spPr>
        <p:txBody>
          <a:bodyPr wrap="none">
            <a:spAutoFit/>
          </a:bodyPr>
          <a:lstStyle/>
          <a:p>
            <a:pPr>
              <a:defRPr b="1" sz="900">
                <a:solidFill>
                  <a:srgbClr val="6B7280"/>
                </a:solidFill>
                <a:latin typeface="Segoe UI"/>
              </a:defRPr>
            </a:pPr>
            <a:r>
              <a:t>THE CLOUD OVERHEAD</a:t>
            </a:r>
          </a:p>
        </p:txBody>
      </p:sp>
      <p:sp>
        <p:nvSpPr>
          <p:cNvPr id="16" name="TextBox 15"/>
          <p:cNvSpPr txBox="1"/>
          <p:nvPr/>
        </p:nvSpPr>
        <p:spPr>
          <a:xfrm>
            <a:off x="4700016" y="2423160"/>
            <a:ext cx="2779776" cy="548640"/>
          </a:xfrm>
          <a:prstGeom prst="rect">
            <a:avLst/>
          </a:prstGeom>
          <a:noFill/>
        </p:spPr>
        <p:txBody>
          <a:bodyPr wrap="none">
            <a:spAutoFit/>
          </a:bodyPr>
          <a:lstStyle/>
          <a:p>
            <a:pPr>
              <a:defRPr b="1" sz="1600">
                <a:solidFill>
                  <a:srgbClr val="111827"/>
                </a:solidFill>
                <a:latin typeface="Segoe UI"/>
              </a:defRPr>
            </a:pPr>
            <a:r>
              <a:t>Unnecessary Bandwidth</a:t>
            </a:r>
          </a:p>
        </p:txBody>
      </p:sp>
      <p:sp>
        <p:nvSpPr>
          <p:cNvPr id="17" name="TextBox 16"/>
          <p:cNvSpPr txBox="1"/>
          <p:nvPr/>
        </p:nvSpPr>
        <p:spPr>
          <a:xfrm>
            <a:off x="4700016" y="3017520"/>
            <a:ext cx="2779776" cy="1645920"/>
          </a:xfrm>
          <a:prstGeom prst="rect">
            <a:avLst/>
          </a:prstGeom>
          <a:noFill/>
        </p:spPr>
        <p:txBody>
          <a:bodyPr wrap="square">
            <a:spAutoFit/>
          </a:bodyPr>
          <a:lstStyle/>
          <a:p>
            <a:pPr>
              <a:defRPr sz="1100">
                <a:solidFill>
                  <a:srgbClr val="4B5563"/>
                </a:solidFill>
                <a:latin typeface="Segoe UI"/>
              </a:defRPr>
            </a:pPr>
            <a:r>
              <a:t>Moving a 50GB directory from drive C: to D: via conventional cloud web solutions forces a 50GB upload to remote servers and a 50GB re-download. This causes severe latency, egress costs, and privacy vulnerabilities.</a:t>
            </a:r>
          </a:p>
        </p:txBody>
      </p:sp>
      <p:sp>
        <p:nvSpPr>
          <p:cNvPr id="18" name="Rounded Rectangle 17"/>
          <p:cNvSpPr/>
          <p:nvPr/>
        </p:nvSpPr>
        <p:spPr>
          <a:xfrm>
            <a:off x="4700016" y="4846320"/>
            <a:ext cx="2779776" cy="914400"/>
          </a:xfrm>
          <a:prstGeom prst="round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91456" y="4892040"/>
            <a:ext cx="2596896" cy="457200"/>
          </a:xfrm>
          <a:prstGeom prst="rect">
            <a:avLst/>
          </a:prstGeom>
          <a:noFill/>
        </p:spPr>
        <p:txBody>
          <a:bodyPr wrap="none">
            <a:spAutoFit/>
          </a:bodyPr>
          <a:lstStyle/>
          <a:p>
            <a:pPr>
              <a:defRPr b="1" sz="2200">
                <a:solidFill>
                  <a:srgbClr val="FFFFFF"/>
                </a:solidFill>
                <a:latin typeface="Segoe UI"/>
              </a:defRPr>
            </a:pPr>
            <a:r>
              <a:t>2x</a:t>
            </a:r>
          </a:p>
        </p:txBody>
      </p:sp>
      <p:sp>
        <p:nvSpPr>
          <p:cNvPr id="20" name="TextBox 19"/>
          <p:cNvSpPr txBox="1"/>
          <p:nvPr/>
        </p:nvSpPr>
        <p:spPr>
          <a:xfrm>
            <a:off x="4791456" y="5349240"/>
            <a:ext cx="2596896" cy="320040"/>
          </a:xfrm>
          <a:prstGeom prst="rect">
            <a:avLst/>
          </a:prstGeom>
          <a:noFill/>
        </p:spPr>
        <p:txBody>
          <a:bodyPr wrap="none">
            <a:spAutoFit/>
          </a:bodyPr>
          <a:lstStyle/>
          <a:p>
            <a:pPr>
              <a:defRPr sz="900" b="1">
                <a:solidFill>
                  <a:srgbClr val="B4B9C3"/>
                </a:solidFill>
                <a:latin typeface="Segoe UI"/>
              </a:defRPr>
            </a:pPr>
            <a:r>
              <a:t>REDUNDANT DATA ROUNDTRIPS</a:t>
            </a:r>
          </a:p>
        </p:txBody>
      </p:sp>
      <p:sp>
        <p:nvSpPr>
          <p:cNvPr id="21" name="Rounded Rectangle 20"/>
          <p:cNvSpPr/>
          <p:nvPr/>
        </p:nvSpPr>
        <p:spPr>
          <a:xfrm>
            <a:off x="8119872" y="1828800"/>
            <a:ext cx="3328416" cy="42976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94192" y="2103120"/>
            <a:ext cx="2779776" cy="274320"/>
          </a:xfrm>
          <a:prstGeom prst="rect">
            <a:avLst/>
          </a:prstGeom>
          <a:noFill/>
        </p:spPr>
        <p:txBody>
          <a:bodyPr wrap="none">
            <a:spAutoFit/>
          </a:bodyPr>
          <a:lstStyle/>
          <a:p>
            <a:pPr>
              <a:defRPr b="1" sz="900">
                <a:solidFill>
                  <a:srgbClr val="6B7280"/>
                </a:solidFill>
                <a:latin typeface="Segoe UI"/>
              </a:defRPr>
            </a:pPr>
            <a:r>
              <a:t>NATIVE LIMITATIONS</a:t>
            </a:r>
          </a:p>
        </p:txBody>
      </p:sp>
      <p:sp>
        <p:nvSpPr>
          <p:cNvPr id="23" name="TextBox 22"/>
          <p:cNvSpPr txBox="1"/>
          <p:nvPr/>
        </p:nvSpPr>
        <p:spPr>
          <a:xfrm>
            <a:off x="8394192" y="2423160"/>
            <a:ext cx="2779776" cy="548640"/>
          </a:xfrm>
          <a:prstGeom prst="rect">
            <a:avLst/>
          </a:prstGeom>
          <a:noFill/>
        </p:spPr>
        <p:txBody>
          <a:bodyPr wrap="none">
            <a:spAutoFit/>
          </a:bodyPr>
          <a:lstStyle/>
          <a:p>
            <a:pPr>
              <a:defRPr b="1" sz="1600">
                <a:solidFill>
                  <a:srgbClr val="111827"/>
                </a:solidFill>
                <a:latin typeface="Segoe UI"/>
              </a:defRPr>
            </a:pPr>
            <a:r>
              <a:t>OS Explorer Clunkiness</a:t>
            </a:r>
          </a:p>
        </p:txBody>
      </p:sp>
      <p:sp>
        <p:nvSpPr>
          <p:cNvPr id="24" name="TextBox 23"/>
          <p:cNvSpPr txBox="1"/>
          <p:nvPr/>
        </p:nvSpPr>
        <p:spPr>
          <a:xfrm>
            <a:off x="8394192" y="3017520"/>
            <a:ext cx="2779776" cy="1645920"/>
          </a:xfrm>
          <a:prstGeom prst="rect">
            <a:avLst/>
          </a:prstGeom>
          <a:noFill/>
        </p:spPr>
        <p:txBody>
          <a:bodyPr wrap="square">
            <a:spAutoFit/>
          </a:bodyPr>
          <a:lstStyle/>
          <a:p>
            <a:pPr>
              <a:defRPr sz="1100">
                <a:solidFill>
                  <a:srgbClr val="4B5563"/>
                </a:solidFill>
                <a:latin typeface="Segoe UI"/>
              </a:defRPr>
            </a:pPr>
            <a:r>
              <a:t>Native OS utilities (Windows Explorer, Finder) lack modern web UI ergonomics, have no remote-dashboard capabilities, lack WebSocket event streaming, and make programmatic task queueing cumbersome.</a:t>
            </a:r>
          </a:p>
        </p:txBody>
      </p:sp>
      <p:sp>
        <p:nvSpPr>
          <p:cNvPr id="25" name="Rounded Rectangle 24"/>
          <p:cNvSpPr/>
          <p:nvPr/>
        </p:nvSpPr>
        <p:spPr>
          <a:xfrm>
            <a:off x="8394192" y="4846320"/>
            <a:ext cx="2779776" cy="914400"/>
          </a:xfrm>
          <a:prstGeom prst="round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85632" y="4892040"/>
            <a:ext cx="2596896" cy="457200"/>
          </a:xfrm>
          <a:prstGeom prst="rect">
            <a:avLst/>
          </a:prstGeom>
          <a:noFill/>
        </p:spPr>
        <p:txBody>
          <a:bodyPr wrap="none">
            <a:spAutoFit/>
          </a:bodyPr>
          <a:lstStyle/>
          <a:p>
            <a:pPr>
              <a:defRPr b="1" sz="2200">
                <a:solidFill>
                  <a:srgbClr val="FFFFFF"/>
                </a:solidFill>
                <a:latin typeface="Segoe UI"/>
              </a:defRPr>
            </a:pPr>
            <a:r>
              <a:t>0 API</a:t>
            </a:r>
          </a:p>
        </p:txBody>
      </p:sp>
      <p:sp>
        <p:nvSpPr>
          <p:cNvPr id="27" name="TextBox 26"/>
          <p:cNvSpPr txBox="1"/>
          <p:nvPr/>
        </p:nvSpPr>
        <p:spPr>
          <a:xfrm>
            <a:off x="8485632" y="5349240"/>
            <a:ext cx="2596896" cy="320040"/>
          </a:xfrm>
          <a:prstGeom prst="rect">
            <a:avLst/>
          </a:prstGeom>
          <a:noFill/>
        </p:spPr>
        <p:txBody>
          <a:bodyPr wrap="none">
            <a:spAutoFit/>
          </a:bodyPr>
          <a:lstStyle/>
          <a:p>
            <a:pPr>
              <a:defRPr sz="900" b="1">
                <a:solidFill>
                  <a:srgbClr val="B4B9C3"/>
                </a:solidFill>
                <a:latin typeface="Segoe UI"/>
              </a:defRPr>
            </a:pPr>
            <a:r>
              <a:t>WEB INTERFACE INTEGRATION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lIns="0" rIns="0" tIns="0" bIns="0">
            <a:spAutoFit/>
          </a:bodyPr>
          <a:lstStyle/>
          <a:p>
            <a:pPr>
              <a:defRPr sz="1000" b="1">
                <a:solidFill>
                  <a:srgbClr val="6B7280"/>
                </a:solidFill>
                <a:latin typeface="Segoe UI"/>
              </a:defRPr>
            </a:pPr>
            <a:r>
              <a:t>02 / SYSTEM ARCHITECTURE</a:t>
            </a:r>
          </a:p>
        </p:txBody>
      </p:sp>
      <p:sp>
        <p:nvSpPr>
          <p:cNvPr id="4" name="TextBox 3"/>
          <p:cNvSpPr txBox="1"/>
          <p:nvPr/>
        </p:nvSpPr>
        <p:spPr>
          <a:xfrm>
            <a:off x="731520" y="777240"/>
            <a:ext cx="8686800" cy="640080"/>
          </a:xfrm>
          <a:prstGeom prst="rect">
            <a:avLst/>
          </a:prstGeom>
          <a:noFill/>
        </p:spPr>
        <p:txBody>
          <a:bodyPr wrap="square" lIns="0" rIns="0" tIns="0" bIns="0">
            <a:spAutoFit/>
          </a:bodyPr>
          <a:lstStyle/>
          <a:p>
            <a:pPr>
              <a:defRPr sz="2400" b="1">
                <a:solidFill>
                  <a:srgbClr val="111827"/>
                </a:solidFill>
                <a:latin typeface="Segoe UI"/>
              </a:defRPr>
            </a:pPr>
            <a:r>
              <a:t>DECOUPLED 3-TIER ARCHITECTURE</a:t>
            </a:r>
          </a:p>
        </p:txBody>
      </p:sp>
      <p:sp>
        <p:nvSpPr>
          <p:cNvPr id="5" name="TextBox 4"/>
          <p:cNvSpPr txBox="1"/>
          <p:nvPr/>
        </p:nvSpPr>
        <p:spPr>
          <a:xfrm>
            <a:off x="8961120" y="457200"/>
            <a:ext cx="2468880" cy="640080"/>
          </a:xfrm>
          <a:prstGeom prst="rect">
            <a:avLst/>
          </a:prstGeom>
          <a:noFill/>
        </p:spPr>
        <p:txBody>
          <a:bodyPr wrap="none" lIns="0" rIns="0" tIns="0" bIns="0">
            <a:spAutoFit/>
          </a:bodyPr>
          <a:lstStyle/>
          <a:p>
            <a:pPr algn="r">
              <a:defRPr sz="1000" b="1">
                <a:solidFill>
                  <a:srgbClr val="6B7280"/>
                </a:solidFill>
                <a:latin typeface="Segoe UI"/>
              </a:defRPr>
            </a:pPr>
            <a:r>
              <a:t>FILE TRANSFER AGENT // P.03</a:t>
            </a:r>
          </a:p>
        </p:txBody>
      </p:sp>
      <p:sp>
        <p:nvSpPr>
          <p:cNvPr id="6" name="Rectangle 5"/>
          <p:cNvSpPr/>
          <p:nvPr/>
        </p:nvSpPr>
        <p:spPr>
          <a:xfrm>
            <a:off x="731520" y="1508760"/>
            <a:ext cx="10728655" cy="12700"/>
          </a:xfrm>
          <a:prstGeom prst="rect">
            <a:avLst/>
          </a:prstGeom>
          <a:solidFill>
            <a:srgbClr val="E1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28800"/>
            <a:ext cx="5120640" cy="20116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2011680"/>
            <a:ext cx="1645920" cy="320040"/>
          </a:xfrm>
          <a:prstGeom prst="round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defRPr>
            </a:pPr>
            <a:r>
              <a:t>CLIENT TIER</a:t>
            </a:r>
          </a:p>
        </p:txBody>
      </p:sp>
      <p:sp>
        <p:nvSpPr>
          <p:cNvPr id="9" name="TextBox 8"/>
          <p:cNvSpPr txBox="1"/>
          <p:nvPr/>
        </p:nvSpPr>
        <p:spPr>
          <a:xfrm>
            <a:off x="1005840" y="2423160"/>
            <a:ext cx="4572000" cy="1280160"/>
          </a:xfrm>
          <a:prstGeom prst="rect">
            <a:avLst/>
          </a:prstGeom>
          <a:noFill/>
        </p:spPr>
        <p:txBody>
          <a:bodyPr wrap="square">
            <a:spAutoFit/>
          </a:bodyPr>
          <a:lstStyle/>
          <a:p>
            <a:pPr>
              <a:defRPr b="1" sz="1500">
                <a:solidFill>
                  <a:srgbClr val="111827"/>
                </a:solidFill>
              </a:defRPr>
            </a:pPr>
            <a:r>
              <a:t>React 18 + TypeScript + Vite UI</a:t>
            </a:r>
          </a:p>
          <a:p>
            <a:pPr>
              <a:defRPr sz="1050">
                <a:solidFill>
                  <a:srgbClr val="4B5563"/>
                </a:solidFill>
              </a:defRPr>
            </a:pPr>
            <a:r>
              <a:t>• Runs on http://localhost:5173</a:t>
            </a:r>
            <a:br/>
            <a:r>
              <a:t>• Drag-and-drop path receiver &amp; browse modal</a:t>
            </a:r>
            <a:br/>
            <a:r>
              <a:t>• Live speed (MB/s), ETA calculation, and progress bars</a:t>
            </a:r>
            <a:br/>
            <a:r>
              <a:t>• Multi-transfer queue state &amp; conflict modals</a:t>
            </a:r>
          </a:p>
        </p:txBody>
      </p:sp>
      <p:sp>
        <p:nvSpPr>
          <p:cNvPr id="10" name="Rounded Rectangle 9"/>
          <p:cNvSpPr/>
          <p:nvPr/>
        </p:nvSpPr>
        <p:spPr>
          <a:xfrm>
            <a:off x="6309360" y="1828800"/>
            <a:ext cx="5120640" cy="20116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0" y="2011680"/>
            <a:ext cx="1645920" cy="320040"/>
          </a:xfrm>
          <a:prstGeom prst="round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defRPr>
            </a:pPr>
            <a:r>
              <a:t>COMMUNICATION</a:t>
            </a:r>
          </a:p>
        </p:txBody>
      </p:sp>
      <p:sp>
        <p:nvSpPr>
          <p:cNvPr id="12" name="TextBox 11"/>
          <p:cNvSpPr txBox="1"/>
          <p:nvPr/>
        </p:nvSpPr>
        <p:spPr>
          <a:xfrm>
            <a:off x="6583680" y="2423160"/>
            <a:ext cx="4572000" cy="1280160"/>
          </a:xfrm>
          <a:prstGeom prst="rect">
            <a:avLst/>
          </a:prstGeom>
          <a:noFill/>
        </p:spPr>
        <p:txBody>
          <a:bodyPr wrap="square">
            <a:spAutoFit/>
          </a:bodyPr>
          <a:lstStyle/>
          <a:p>
            <a:pPr>
              <a:defRPr b="1" sz="1500">
                <a:solidFill>
                  <a:srgbClr val="111827"/>
                </a:solidFill>
              </a:defRPr>
            </a:pPr>
            <a:r>
              <a:t>Low-Latency WebSocket Bridge</a:t>
            </a:r>
          </a:p>
          <a:p>
            <a:pPr>
              <a:defRPr sz="1050">
                <a:solidFill>
                  <a:srgbClr val="4B5563"/>
                </a:solidFill>
              </a:defRPr>
            </a:pPr>
            <a:r>
              <a:t>• Runs on ws://127.0.0.1:3456</a:t>
            </a:r>
            <a:br/>
            <a:r>
              <a:t>• JSON-RPC request/response protocol</a:t>
            </a:r>
            <a:br/>
            <a:r>
              <a:t>• SHA-256 Bearer Token handshake authentication</a:t>
            </a:r>
            <a:br/>
            <a:r>
              <a:t>• Zero file payloads: only commands, progress, &amp; telemetry</a:t>
            </a:r>
          </a:p>
        </p:txBody>
      </p:sp>
      <p:sp>
        <p:nvSpPr>
          <p:cNvPr id="13" name="Rounded Rectangle 12"/>
          <p:cNvSpPr/>
          <p:nvPr/>
        </p:nvSpPr>
        <p:spPr>
          <a:xfrm>
            <a:off x="731520" y="4114800"/>
            <a:ext cx="10728655" cy="20116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05840" y="4343400"/>
            <a:ext cx="2011680" cy="320040"/>
          </a:xfrm>
          <a:prstGeom prst="round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defRPr>
            </a:pPr>
            <a:r>
              <a:t>DAEMON / ENGINE TIER</a:t>
            </a:r>
          </a:p>
        </p:txBody>
      </p:sp>
      <p:sp>
        <p:nvSpPr>
          <p:cNvPr id="15" name="TextBox 14"/>
          <p:cNvSpPr txBox="1"/>
          <p:nvPr/>
        </p:nvSpPr>
        <p:spPr>
          <a:xfrm>
            <a:off x="1005840" y="4754880"/>
            <a:ext cx="10149840" cy="1188720"/>
          </a:xfrm>
          <a:prstGeom prst="rect">
            <a:avLst/>
          </a:prstGeom>
          <a:noFill/>
        </p:spPr>
        <p:txBody>
          <a:bodyPr wrap="square">
            <a:spAutoFit/>
          </a:bodyPr>
          <a:lstStyle/>
          <a:p>
            <a:pPr>
              <a:defRPr b="1" sz="1500">
                <a:solidFill>
                  <a:srgbClr val="111827"/>
                </a:solidFill>
              </a:defRPr>
            </a:pPr>
            <a:r>
              <a:t>Node.js Native Transfer Agent &amp; Local OS Filesystem</a:t>
            </a:r>
          </a:p>
          <a:p>
            <a:pPr>
              <a:defRPr sz="1050">
                <a:solidFill>
                  <a:srgbClr val="4B5563"/>
                </a:solidFill>
              </a:defRPr>
            </a:pPr>
            <a:r>
              <a:t>• HighWaterMark 64KB chunked streams with backpressure control (readStream.pause / writeStream.on('drain'))</a:t>
            </a:r>
            <a:br/>
            <a:r>
              <a:t>• Cross-device link resolution (EXDEV fallback from atomic rename to stream+unlink)</a:t>
            </a:r>
            <a:br/>
            <a:r>
              <a:t>• Sandboxed path resolution: ALLOWED_PATHS whitelist validation prevents directory traversal attacks</a:t>
            </a:r>
            <a:br/>
            <a:r>
              <a:t>• AbortController integration for clean cancellation without file descriptor or memory leaks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lIns="0" rIns="0" tIns="0" bIns="0">
            <a:spAutoFit/>
          </a:bodyPr>
          <a:lstStyle/>
          <a:p>
            <a:pPr>
              <a:defRPr sz="1000" b="1">
                <a:solidFill>
                  <a:srgbClr val="6B7280"/>
                </a:solidFill>
                <a:latin typeface="Segoe UI"/>
              </a:defRPr>
            </a:pPr>
            <a:r>
              <a:t>03 / COMPARATIVE ANALYSIS</a:t>
            </a:r>
          </a:p>
        </p:txBody>
      </p:sp>
      <p:sp>
        <p:nvSpPr>
          <p:cNvPr id="4" name="TextBox 3"/>
          <p:cNvSpPr txBox="1"/>
          <p:nvPr/>
        </p:nvSpPr>
        <p:spPr>
          <a:xfrm>
            <a:off x="731520" y="777240"/>
            <a:ext cx="8686800" cy="640080"/>
          </a:xfrm>
          <a:prstGeom prst="rect">
            <a:avLst/>
          </a:prstGeom>
          <a:noFill/>
        </p:spPr>
        <p:txBody>
          <a:bodyPr wrap="square" lIns="0" rIns="0" tIns="0" bIns="0">
            <a:spAutoFit/>
          </a:bodyPr>
          <a:lstStyle/>
          <a:p>
            <a:pPr>
              <a:defRPr sz="2400" b="1">
                <a:solidFill>
                  <a:srgbClr val="111827"/>
                </a:solidFill>
                <a:latin typeface="Segoe UI"/>
              </a:defRPr>
            </a:pPr>
            <a:r>
              <a:t>THE STRATEGIC SWEET SPOT: VENN DIAGRAM</a:t>
            </a:r>
          </a:p>
        </p:txBody>
      </p:sp>
      <p:sp>
        <p:nvSpPr>
          <p:cNvPr id="5" name="TextBox 4"/>
          <p:cNvSpPr txBox="1"/>
          <p:nvPr/>
        </p:nvSpPr>
        <p:spPr>
          <a:xfrm>
            <a:off x="8961120" y="457200"/>
            <a:ext cx="2468880" cy="640080"/>
          </a:xfrm>
          <a:prstGeom prst="rect">
            <a:avLst/>
          </a:prstGeom>
          <a:noFill/>
        </p:spPr>
        <p:txBody>
          <a:bodyPr wrap="none" lIns="0" rIns="0" tIns="0" bIns="0">
            <a:spAutoFit/>
          </a:bodyPr>
          <a:lstStyle/>
          <a:p>
            <a:pPr algn="r">
              <a:defRPr sz="1000" b="1">
                <a:solidFill>
                  <a:srgbClr val="6B7280"/>
                </a:solidFill>
                <a:latin typeface="Segoe UI"/>
              </a:defRPr>
            </a:pPr>
            <a:r>
              <a:t>FILE TRANSFER AGENT // P.04</a:t>
            </a:r>
          </a:p>
        </p:txBody>
      </p:sp>
      <p:sp>
        <p:nvSpPr>
          <p:cNvPr id="6" name="Rectangle 5"/>
          <p:cNvSpPr/>
          <p:nvPr/>
        </p:nvSpPr>
        <p:spPr>
          <a:xfrm>
            <a:off x="731520" y="1508760"/>
            <a:ext cx="10728655" cy="12700"/>
          </a:xfrm>
          <a:prstGeom prst="rect">
            <a:avLst/>
          </a:prstGeom>
          <a:solidFill>
            <a:srgbClr val="E1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enn_diagram.png"/>
          <p:cNvPicPr>
            <a:picLocks noChangeAspect="1"/>
          </p:cNvPicPr>
          <p:nvPr/>
        </p:nvPicPr>
        <p:blipFill>
          <a:blip r:embed="rId2"/>
          <a:stretch>
            <a:fillRect/>
          </a:stretch>
        </p:blipFill>
        <p:spPr>
          <a:xfrm>
            <a:off x="731520" y="1783080"/>
            <a:ext cx="4675285" cy="4480560"/>
          </a:xfrm>
          <a:prstGeom prst="rect">
            <a:avLst/>
          </a:prstGeom>
        </p:spPr>
      </p:pic>
      <p:sp>
        <p:nvSpPr>
          <p:cNvPr id="8" name="Rounded Rectangle 7"/>
          <p:cNvSpPr/>
          <p:nvPr/>
        </p:nvSpPr>
        <p:spPr>
          <a:xfrm>
            <a:off x="6217920" y="1783080"/>
            <a:ext cx="5242255" cy="448056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11680"/>
            <a:ext cx="4693615" cy="4023360"/>
          </a:xfrm>
          <a:prstGeom prst="rect">
            <a:avLst/>
          </a:prstGeom>
          <a:noFill/>
        </p:spPr>
        <p:txBody>
          <a:bodyPr wrap="square">
            <a:spAutoFit/>
          </a:bodyPr>
          <a:lstStyle/>
          <a:p>
            <a:pPr>
              <a:defRPr b="1" sz="1400">
                <a:solidFill>
                  <a:srgbClr val="111827"/>
                </a:solidFill>
              </a:defRPr>
            </a:pPr>
            <a:r>
              <a:t>STRATEGIC POSITIONING ANALYSIS</a:t>
            </a:r>
          </a:p>
          <a:p>
            <a:br/>
            <a:pPr>
              <a:defRPr sz="1050">
                <a:solidFill>
                  <a:srgbClr val="4B5563"/>
                </a:solidFill>
              </a:defRPr>
            </a:pPr>
            <a:r>
              <a:t>1. Cloud Web Apps (Google Drive, WeTransfer):</a:t>
            </a:r>
            <a:br/>
            <a:r>
              <a:t>   • Exceptional UI &amp; cross-device control.</a:t>
            </a:r>
            <a:br/>
            <a:r>
              <a:t>   • Severe upload bottlenecks, cloud egress costs, and security exposure.</a:t>
            </a:r>
          </a:p>
          <a:p>
            <a:br/>
            <a:pPr>
              <a:defRPr sz="1050">
                <a:solidFill>
                  <a:srgbClr val="4B5563"/>
                </a:solidFill>
              </a:defRPr>
            </a:pPr>
            <a:r>
              <a:t>2. Native OS Tools (Windows Explorer, rsync, Robocopy):</a:t>
            </a:r>
            <a:br/>
            <a:r>
              <a:t>   • Full hardware bus speed &amp; 100% private local disk I/O.</a:t>
            </a:r>
            <a:br/>
            <a:r>
              <a:t>   • Zero web API control, no responsive telemetry, clunky multi-transfer queues.</a:t>
            </a:r>
          </a:p>
          <a:p>
            <a:br/>
            <a:pPr>
              <a:defRPr b="1" sz="1100">
                <a:solidFill>
                  <a:srgbClr val="121214"/>
                </a:solidFill>
              </a:defRPr>
            </a:pPr>
            <a:r>
              <a:t>★ The Intersection: FILE TRANSFER AGENT:</a:t>
            </a:r>
            <a:br/>
            <a:r>
              <a:t>   • Combines the intuitive accessibility of modern web applications with the raw multi-gigabyte throughput of native physical disks.</a:t>
            </a:r>
            <a:br/>
            <a:r>
              <a:t>   • Zero cloud dependency + Sandboxed Localhost Security.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lIns="0" rIns="0" tIns="0" bIns="0">
            <a:spAutoFit/>
          </a:bodyPr>
          <a:lstStyle/>
          <a:p>
            <a:pPr>
              <a:defRPr sz="1000" b="1">
                <a:solidFill>
                  <a:srgbClr val="6B7280"/>
                </a:solidFill>
                <a:latin typeface="Segoe UI"/>
              </a:defRPr>
            </a:pPr>
            <a:r>
              <a:t>04 / STEP-BY-STEP MECHANISM</a:t>
            </a:r>
          </a:p>
        </p:txBody>
      </p:sp>
      <p:sp>
        <p:nvSpPr>
          <p:cNvPr id="4" name="TextBox 3"/>
          <p:cNvSpPr txBox="1"/>
          <p:nvPr/>
        </p:nvSpPr>
        <p:spPr>
          <a:xfrm>
            <a:off x="731520" y="777240"/>
            <a:ext cx="8686800" cy="640080"/>
          </a:xfrm>
          <a:prstGeom prst="rect">
            <a:avLst/>
          </a:prstGeom>
          <a:noFill/>
        </p:spPr>
        <p:txBody>
          <a:bodyPr wrap="square" lIns="0" rIns="0" tIns="0" bIns="0">
            <a:spAutoFit/>
          </a:bodyPr>
          <a:lstStyle/>
          <a:p>
            <a:pPr>
              <a:defRPr sz="2400" b="1">
                <a:solidFill>
                  <a:srgbClr val="111827"/>
                </a:solidFill>
                <a:latin typeface="Segoe UI"/>
              </a:defRPr>
            </a:pPr>
            <a:r>
              <a:t>HOW IT WORKS: END-TO-END PIPELINE</a:t>
            </a:r>
          </a:p>
        </p:txBody>
      </p:sp>
      <p:sp>
        <p:nvSpPr>
          <p:cNvPr id="5" name="TextBox 4"/>
          <p:cNvSpPr txBox="1"/>
          <p:nvPr/>
        </p:nvSpPr>
        <p:spPr>
          <a:xfrm>
            <a:off x="8961120" y="457200"/>
            <a:ext cx="2468880" cy="640080"/>
          </a:xfrm>
          <a:prstGeom prst="rect">
            <a:avLst/>
          </a:prstGeom>
          <a:noFill/>
        </p:spPr>
        <p:txBody>
          <a:bodyPr wrap="none" lIns="0" rIns="0" tIns="0" bIns="0">
            <a:spAutoFit/>
          </a:bodyPr>
          <a:lstStyle/>
          <a:p>
            <a:pPr algn="r">
              <a:defRPr sz="1000" b="1">
                <a:solidFill>
                  <a:srgbClr val="6B7280"/>
                </a:solidFill>
                <a:latin typeface="Segoe UI"/>
              </a:defRPr>
            </a:pPr>
            <a:r>
              <a:t>FILE TRANSFER AGENT // P.05</a:t>
            </a:r>
          </a:p>
        </p:txBody>
      </p:sp>
      <p:sp>
        <p:nvSpPr>
          <p:cNvPr id="6" name="Rectangle 5"/>
          <p:cNvSpPr/>
          <p:nvPr/>
        </p:nvSpPr>
        <p:spPr>
          <a:xfrm>
            <a:off x="731520" y="1508760"/>
            <a:ext cx="10728655" cy="12700"/>
          </a:xfrm>
          <a:prstGeom prst="rect">
            <a:avLst/>
          </a:prstGeom>
          <a:solidFill>
            <a:srgbClr val="E1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28800"/>
            <a:ext cx="2468880" cy="42976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57400"/>
            <a:ext cx="2103120" cy="731520"/>
          </a:xfrm>
          <a:prstGeom prst="rect">
            <a:avLst/>
          </a:prstGeom>
          <a:noFill/>
        </p:spPr>
        <p:txBody>
          <a:bodyPr wrap="none">
            <a:spAutoFit/>
          </a:bodyPr>
          <a:lstStyle/>
          <a:p>
            <a:pPr>
              <a:defRPr b="1" sz="3600">
                <a:solidFill>
                  <a:srgbClr val="121214"/>
                </a:solidFill>
                <a:latin typeface="Segoe UI"/>
              </a:defRPr>
            </a:pPr>
            <a:r>
              <a:t>01</a:t>
            </a:r>
          </a:p>
        </p:txBody>
      </p:sp>
      <p:sp>
        <p:nvSpPr>
          <p:cNvPr id="9" name="TextBox 8"/>
          <p:cNvSpPr txBox="1"/>
          <p:nvPr/>
        </p:nvSpPr>
        <p:spPr>
          <a:xfrm>
            <a:off x="914400" y="2880360"/>
            <a:ext cx="2103120" cy="274320"/>
          </a:xfrm>
          <a:prstGeom prst="rect">
            <a:avLst/>
          </a:prstGeom>
          <a:noFill/>
        </p:spPr>
        <p:txBody>
          <a:bodyPr wrap="none">
            <a:spAutoFit/>
          </a:bodyPr>
          <a:lstStyle/>
          <a:p>
            <a:pPr>
              <a:defRPr b="1" sz="900">
                <a:solidFill>
                  <a:srgbClr val="6B7280"/>
                </a:solidFill>
              </a:defRPr>
            </a:pPr>
            <a:r>
              <a:t>INITIATION</a:t>
            </a:r>
          </a:p>
        </p:txBody>
      </p:sp>
      <p:sp>
        <p:nvSpPr>
          <p:cNvPr id="10" name="TextBox 9"/>
          <p:cNvSpPr txBox="1"/>
          <p:nvPr/>
        </p:nvSpPr>
        <p:spPr>
          <a:xfrm>
            <a:off x="914400" y="3154680"/>
            <a:ext cx="2103120" cy="548640"/>
          </a:xfrm>
          <a:prstGeom prst="rect">
            <a:avLst/>
          </a:prstGeom>
          <a:noFill/>
        </p:spPr>
        <p:txBody>
          <a:bodyPr wrap="square">
            <a:spAutoFit/>
          </a:bodyPr>
          <a:lstStyle/>
          <a:p>
            <a:pPr>
              <a:defRPr b="1" sz="1400">
                <a:solidFill>
                  <a:srgbClr val="111827"/>
                </a:solidFill>
              </a:defRPr>
            </a:pPr>
            <a:r>
              <a:t>Path Setup &amp; Config</a:t>
            </a:r>
          </a:p>
        </p:txBody>
      </p:sp>
      <p:sp>
        <p:nvSpPr>
          <p:cNvPr id="11" name="TextBox 10"/>
          <p:cNvSpPr txBox="1"/>
          <p:nvPr/>
        </p:nvSpPr>
        <p:spPr>
          <a:xfrm>
            <a:off x="914400" y="3794760"/>
            <a:ext cx="2103120" cy="2103120"/>
          </a:xfrm>
          <a:prstGeom prst="rect">
            <a:avLst/>
          </a:prstGeom>
          <a:noFill/>
        </p:spPr>
        <p:txBody>
          <a:bodyPr wrap="square">
            <a:spAutoFit/>
          </a:bodyPr>
          <a:lstStyle/>
          <a:p>
            <a:pPr>
              <a:defRPr sz="1000">
                <a:solidFill>
                  <a:srgbClr val="4B5563"/>
                </a:solidFill>
              </a:defRPr>
            </a:pPr>
            <a:r>
              <a:t>The user specifies source and destination paths via drag-and-drop or the native folder browser modal. They select operation (Copy vs. Move) and Conflict Resolution strategy (Rename, Overwrite, Skip).</a:t>
            </a:r>
          </a:p>
        </p:txBody>
      </p:sp>
      <p:sp>
        <p:nvSpPr>
          <p:cNvPr id="12" name="Rounded Rectangle 11"/>
          <p:cNvSpPr/>
          <p:nvPr/>
        </p:nvSpPr>
        <p:spPr>
          <a:xfrm>
            <a:off x="3474720" y="1828800"/>
            <a:ext cx="2468880" cy="42976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2057400"/>
            <a:ext cx="2103120" cy="731520"/>
          </a:xfrm>
          <a:prstGeom prst="rect">
            <a:avLst/>
          </a:prstGeom>
          <a:noFill/>
        </p:spPr>
        <p:txBody>
          <a:bodyPr wrap="none">
            <a:spAutoFit/>
          </a:bodyPr>
          <a:lstStyle/>
          <a:p>
            <a:pPr>
              <a:defRPr b="1" sz="3600">
                <a:solidFill>
                  <a:srgbClr val="121214"/>
                </a:solidFill>
                <a:latin typeface="Segoe UI"/>
              </a:defRPr>
            </a:pPr>
            <a:r>
              <a:t>02</a:t>
            </a:r>
          </a:p>
        </p:txBody>
      </p:sp>
      <p:sp>
        <p:nvSpPr>
          <p:cNvPr id="14" name="TextBox 13"/>
          <p:cNvSpPr txBox="1"/>
          <p:nvPr/>
        </p:nvSpPr>
        <p:spPr>
          <a:xfrm>
            <a:off x="3657600" y="2880360"/>
            <a:ext cx="2103120" cy="274320"/>
          </a:xfrm>
          <a:prstGeom prst="rect">
            <a:avLst/>
          </a:prstGeom>
          <a:noFill/>
        </p:spPr>
        <p:txBody>
          <a:bodyPr wrap="none">
            <a:spAutoFit/>
          </a:bodyPr>
          <a:lstStyle/>
          <a:p>
            <a:pPr>
              <a:defRPr b="1" sz="900">
                <a:solidFill>
                  <a:srgbClr val="6B7280"/>
                </a:solidFill>
              </a:defRPr>
            </a:pPr>
            <a:r>
              <a:t>PRE-FLIGHT</a:t>
            </a:r>
          </a:p>
        </p:txBody>
      </p:sp>
      <p:sp>
        <p:nvSpPr>
          <p:cNvPr id="15" name="TextBox 14"/>
          <p:cNvSpPr txBox="1"/>
          <p:nvPr/>
        </p:nvSpPr>
        <p:spPr>
          <a:xfrm>
            <a:off x="3657600" y="3154680"/>
            <a:ext cx="2103120" cy="548640"/>
          </a:xfrm>
          <a:prstGeom prst="rect">
            <a:avLst/>
          </a:prstGeom>
          <a:noFill/>
        </p:spPr>
        <p:txBody>
          <a:bodyPr wrap="square">
            <a:spAutoFit/>
          </a:bodyPr>
          <a:lstStyle/>
          <a:p>
            <a:pPr>
              <a:defRPr b="1" sz="1400">
                <a:solidFill>
                  <a:srgbClr val="111827"/>
                </a:solidFill>
              </a:defRPr>
            </a:pPr>
            <a:r>
              <a:t>Index &amp; Validation</a:t>
            </a:r>
          </a:p>
        </p:txBody>
      </p:sp>
      <p:sp>
        <p:nvSpPr>
          <p:cNvPr id="16" name="TextBox 15"/>
          <p:cNvSpPr txBox="1"/>
          <p:nvPr/>
        </p:nvSpPr>
        <p:spPr>
          <a:xfrm>
            <a:off x="3657600" y="3794760"/>
            <a:ext cx="2103120" cy="2103120"/>
          </a:xfrm>
          <a:prstGeom prst="rect">
            <a:avLst/>
          </a:prstGeom>
          <a:noFill/>
        </p:spPr>
        <p:txBody>
          <a:bodyPr wrap="square">
            <a:spAutoFit/>
          </a:bodyPr>
          <a:lstStyle/>
          <a:p>
            <a:pPr>
              <a:defRPr sz="1000">
                <a:solidFill>
                  <a:srgbClr val="4B5563"/>
                </a:solidFill>
              </a:defRPr>
            </a:pPr>
            <a:r>
              <a:t>The agent validates paths against the security whitelist, recursively scans directories to build the file manifest, computes total bytes and counts, and registers the transfer item in the queue.</a:t>
            </a:r>
          </a:p>
        </p:txBody>
      </p:sp>
      <p:sp>
        <p:nvSpPr>
          <p:cNvPr id="17" name="Rounded Rectangle 16"/>
          <p:cNvSpPr/>
          <p:nvPr/>
        </p:nvSpPr>
        <p:spPr>
          <a:xfrm>
            <a:off x="6217920" y="1828800"/>
            <a:ext cx="2468880" cy="42976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057400"/>
            <a:ext cx="2103120" cy="731520"/>
          </a:xfrm>
          <a:prstGeom prst="rect">
            <a:avLst/>
          </a:prstGeom>
          <a:noFill/>
        </p:spPr>
        <p:txBody>
          <a:bodyPr wrap="none">
            <a:spAutoFit/>
          </a:bodyPr>
          <a:lstStyle/>
          <a:p>
            <a:pPr>
              <a:defRPr b="1" sz="3600">
                <a:solidFill>
                  <a:srgbClr val="121214"/>
                </a:solidFill>
                <a:latin typeface="Segoe UI"/>
              </a:defRPr>
            </a:pPr>
            <a:r>
              <a:t>03</a:t>
            </a:r>
          </a:p>
        </p:txBody>
      </p:sp>
      <p:sp>
        <p:nvSpPr>
          <p:cNvPr id="19" name="TextBox 18"/>
          <p:cNvSpPr txBox="1"/>
          <p:nvPr/>
        </p:nvSpPr>
        <p:spPr>
          <a:xfrm>
            <a:off x="6400800" y="2880360"/>
            <a:ext cx="2103120" cy="274320"/>
          </a:xfrm>
          <a:prstGeom prst="rect">
            <a:avLst/>
          </a:prstGeom>
          <a:noFill/>
        </p:spPr>
        <p:txBody>
          <a:bodyPr wrap="none">
            <a:spAutoFit/>
          </a:bodyPr>
          <a:lstStyle/>
          <a:p>
            <a:pPr>
              <a:defRPr b="1" sz="900">
                <a:solidFill>
                  <a:srgbClr val="6B7280"/>
                </a:solidFill>
              </a:defRPr>
            </a:pPr>
            <a:r>
              <a:t>EXECUTION</a:t>
            </a:r>
          </a:p>
        </p:txBody>
      </p:sp>
      <p:sp>
        <p:nvSpPr>
          <p:cNvPr id="20" name="TextBox 19"/>
          <p:cNvSpPr txBox="1"/>
          <p:nvPr/>
        </p:nvSpPr>
        <p:spPr>
          <a:xfrm>
            <a:off x="6400800" y="3154680"/>
            <a:ext cx="2103120" cy="548640"/>
          </a:xfrm>
          <a:prstGeom prst="rect">
            <a:avLst/>
          </a:prstGeom>
          <a:noFill/>
        </p:spPr>
        <p:txBody>
          <a:bodyPr wrap="square">
            <a:spAutoFit/>
          </a:bodyPr>
          <a:lstStyle/>
          <a:p>
            <a:pPr>
              <a:defRPr b="1" sz="1400">
                <a:solidFill>
                  <a:srgbClr val="111827"/>
                </a:solidFill>
              </a:defRPr>
            </a:pPr>
            <a:r>
              <a:t>Stream &amp; Backpressure</a:t>
            </a:r>
          </a:p>
        </p:txBody>
      </p:sp>
      <p:sp>
        <p:nvSpPr>
          <p:cNvPr id="21" name="TextBox 20"/>
          <p:cNvSpPr txBox="1"/>
          <p:nvPr/>
        </p:nvSpPr>
        <p:spPr>
          <a:xfrm>
            <a:off x="6400800" y="3794760"/>
            <a:ext cx="2103120" cy="2103120"/>
          </a:xfrm>
          <a:prstGeom prst="rect">
            <a:avLst/>
          </a:prstGeom>
          <a:noFill/>
        </p:spPr>
        <p:txBody>
          <a:bodyPr wrap="square">
            <a:spAutoFit/>
          </a:bodyPr>
          <a:lstStyle/>
          <a:p>
            <a:pPr>
              <a:defRPr sz="1000">
                <a:solidFill>
                  <a:srgbClr val="4B5563"/>
                </a:solidFill>
              </a:defRPr>
            </a:pPr>
            <a:r>
              <a:t>Files are processed through Node.js 64KB highWaterMark streams. If the write buffer fills, readStream pauses automatically until 'drain'. Cross-device moves fall back seamlessly from rename to stream+unlink.</a:t>
            </a:r>
          </a:p>
        </p:txBody>
      </p:sp>
      <p:sp>
        <p:nvSpPr>
          <p:cNvPr id="22" name="Rounded Rectangle 21"/>
          <p:cNvSpPr/>
          <p:nvPr/>
        </p:nvSpPr>
        <p:spPr>
          <a:xfrm>
            <a:off x="8961120" y="1828800"/>
            <a:ext cx="2468880" cy="42976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0" y="2057400"/>
            <a:ext cx="2103120" cy="731520"/>
          </a:xfrm>
          <a:prstGeom prst="rect">
            <a:avLst/>
          </a:prstGeom>
          <a:noFill/>
        </p:spPr>
        <p:txBody>
          <a:bodyPr wrap="none">
            <a:spAutoFit/>
          </a:bodyPr>
          <a:lstStyle/>
          <a:p>
            <a:pPr>
              <a:defRPr b="1" sz="3600">
                <a:solidFill>
                  <a:srgbClr val="121214"/>
                </a:solidFill>
                <a:latin typeface="Segoe UI"/>
              </a:defRPr>
            </a:pPr>
            <a:r>
              <a:t>04</a:t>
            </a:r>
          </a:p>
        </p:txBody>
      </p:sp>
      <p:sp>
        <p:nvSpPr>
          <p:cNvPr id="24" name="TextBox 23"/>
          <p:cNvSpPr txBox="1"/>
          <p:nvPr/>
        </p:nvSpPr>
        <p:spPr>
          <a:xfrm>
            <a:off x="9144000" y="2880360"/>
            <a:ext cx="2103120" cy="274320"/>
          </a:xfrm>
          <a:prstGeom prst="rect">
            <a:avLst/>
          </a:prstGeom>
          <a:noFill/>
        </p:spPr>
        <p:txBody>
          <a:bodyPr wrap="none">
            <a:spAutoFit/>
          </a:bodyPr>
          <a:lstStyle/>
          <a:p>
            <a:pPr>
              <a:defRPr b="1" sz="900">
                <a:solidFill>
                  <a:srgbClr val="6B7280"/>
                </a:solidFill>
              </a:defRPr>
            </a:pPr>
            <a:r>
              <a:t>TELEMETRY</a:t>
            </a:r>
          </a:p>
        </p:txBody>
      </p:sp>
      <p:sp>
        <p:nvSpPr>
          <p:cNvPr id="25" name="TextBox 24"/>
          <p:cNvSpPr txBox="1"/>
          <p:nvPr/>
        </p:nvSpPr>
        <p:spPr>
          <a:xfrm>
            <a:off x="9144000" y="3154680"/>
            <a:ext cx="2103120" cy="548640"/>
          </a:xfrm>
          <a:prstGeom prst="rect">
            <a:avLst/>
          </a:prstGeom>
          <a:noFill/>
        </p:spPr>
        <p:txBody>
          <a:bodyPr wrap="square">
            <a:spAutoFit/>
          </a:bodyPr>
          <a:lstStyle/>
          <a:p>
            <a:pPr>
              <a:defRPr b="1" sz="1400">
                <a:solidFill>
                  <a:srgbClr val="111827"/>
                </a:solidFill>
              </a:defRPr>
            </a:pPr>
            <a:r>
              <a:t>Real-Time Updates</a:t>
            </a:r>
          </a:p>
        </p:txBody>
      </p:sp>
      <p:sp>
        <p:nvSpPr>
          <p:cNvPr id="26" name="TextBox 25"/>
          <p:cNvSpPr txBox="1"/>
          <p:nvPr/>
        </p:nvSpPr>
        <p:spPr>
          <a:xfrm>
            <a:off x="9144000" y="3794760"/>
            <a:ext cx="2103120" cy="2103120"/>
          </a:xfrm>
          <a:prstGeom prst="rect">
            <a:avLst/>
          </a:prstGeom>
          <a:noFill/>
        </p:spPr>
        <p:txBody>
          <a:bodyPr wrap="square">
            <a:spAutoFit/>
          </a:bodyPr>
          <a:lstStyle/>
          <a:p>
            <a:pPr>
              <a:defRPr sz="1000">
                <a:solidFill>
                  <a:srgbClr val="4B5563"/>
                </a:solidFill>
              </a:defRPr>
            </a:pPr>
            <a:r>
              <a:t>A 1-second interval timer calculates instantaneous speed (MB/s) and ETA. Progress events stream to the React UI over WebSocket. On completion, metadata is saved to local transfer history.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lIns="0" rIns="0" tIns="0" bIns="0">
            <a:spAutoFit/>
          </a:bodyPr>
          <a:lstStyle/>
          <a:p>
            <a:pPr>
              <a:defRPr sz="1000" b="1">
                <a:solidFill>
                  <a:srgbClr val="6B7280"/>
                </a:solidFill>
                <a:latin typeface="Segoe UI"/>
              </a:defRPr>
            </a:pPr>
            <a:r>
              <a:t>05 / CORE CAPABILITIES</a:t>
            </a:r>
          </a:p>
        </p:txBody>
      </p:sp>
      <p:sp>
        <p:nvSpPr>
          <p:cNvPr id="4" name="TextBox 3"/>
          <p:cNvSpPr txBox="1"/>
          <p:nvPr/>
        </p:nvSpPr>
        <p:spPr>
          <a:xfrm>
            <a:off x="731520" y="777240"/>
            <a:ext cx="8686800" cy="640080"/>
          </a:xfrm>
          <a:prstGeom prst="rect">
            <a:avLst/>
          </a:prstGeom>
          <a:noFill/>
        </p:spPr>
        <p:txBody>
          <a:bodyPr wrap="square" lIns="0" rIns="0" tIns="0" bIns="0">
            <a:spAutoFit/>
          </a:bodyPr>
          <a:lstStyle/>
          <a:p>
            <a:pPr>
              <a:defRPr sz="2400" b="1">
                <a:solidFill>
                  <a:srgbClr val="111827"/>
                </a:solidFill>
                <a:latin typeface="Segoe UI"/>
              </a:defRPr>
            </a:pPr>
            <a:r>
              <a:t>KEY PROJECT FEATURES &amp; SPECIFICATIONS</a:t>
            </a:r>
          </a:p>
        </p:txBody>
      </p:sp>
      <p:sp>
        <p:nvSpPr>
          <p:cNvPr id="5" name="TextBox 4"/>
          <p:cNvSpPr txBox="1"/>
          <p:nvPr/>
        </p:nvSpPr>
        <p:spPr>
          <a:xfrm>
            <a:off x="8961120" y="457200"/>
            <a:ext cx="2468880" cy="640080"/>
          </a:xfrm>
          <a:prstGeom prst="rect">
            <a:avLst/>
          </a:prstGeom>
          <a:noFill/>
        </p:spPr>
        <p:txBody>
          <a:bodyPr wrap="none" lIns="0" rIns="0" tIns="0" bIns="0">
            <a:spAutoFit/>
          </a:bodyPr>
          <a:lstStyle/>
          <a:p>
            <a:pPr algn="r">
              <a:defRPr sz="1000" b="1">
                <a:solidFill>
                  <a:srgbClr val="6B7280"/>
                </a:solidFill>
                <a:latin typeface="Segoe UI"/>
              </a:defRPr>
            </a:pPr>
            <a:r>
              <a:t>FILE TRANSFER AGENT // P.06</a:t>
            </a:r>
          </a:p>
        </p:txBody>
      </p:sp>
      <p:sp>
        <p:nvSpPr>
          <p:cNvPr id="6" name="Rectangle 5"/>
          <p:cNvSpPr/>
          <p:nvPr/>
        </p:nvSpPr>
        <p:spPr>
          <a:xfrm>
            <a:off x="731520" y="1508760"/>
            <a:ext cx="10728655" cy="12700"/>
          </a:xfrm>
          <a:prstGeom prst="rect">
            <a:avLst/>
          </a:prstGeom>
          <a:solidFill>
            <a:srgbClr val="E1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28800"/>
            <a:ext cx="3328416" cy="196596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011680"/>
            <a:ext cx="2871216" cy="411480"/>
          </a:xfrm>
          <a:prstGeom prst="rect">
            <a:avLst/>
          </a:prstGeom>
          <a:noFill/>
        </p:spPr>
        <p:txBody>
          <a:bodyPr wrap="none">
            <a:spAutoFit/>
          </a:bodyPr>
          <a:lstStyle/>
          <a:p>
            <a:pPr>
              <a:defRPr b="1" sz="1300">
                <a:solidFill>
                  <a:srgbClr val="111827"/>
                </a:solidFill>
                <a:latin typeface="Segoe UI"/>
              </a:defRPr>
            </a:pPr>
            <a:r>
              <a:t>01. Zero-Cloud Local Transfer</a:t>
            </a:r>
          </a:p>
        </p:txBody>
      </p:sp>
      <p:sp>
        <p:nvSpPr>
          <p:cNvPr id="9" name="TextBox 8"/>
          <p:cNvSpPr txBox="1"/>
          <p:nvPr/>
        </p:nvSpPr>
        <p:spPr>
          <a:xfrm>
            <a:off x="960120" y="2468880"/>
            <a:ext cx="2871216" cy="1188720"/>
          </a:xfrm>
          <a:prstGeom prst="rect">
            <a:avLst/>
          </a:prstGeom>
          <a:noFill/>
        </p:spPr>
        <p:txBody>
          <a:bodyPr wrap="square">
            <a:spAutoFit/>
          </a:bodyPr>
          <a:lstStyle/>
          <a:p>
            <a:pPr>
              <a:defRPr sz="1000">
                <a:solidFill>
                  <a:srgbClr val="555F6E"/>
                </a:solidFill>
                <a:latin typeface="Segoe UI"/>
              </a:defRPr>
            </a:pPr>
            <a:r>
              <a:t>Files transfer directly between local disks with 0 bytes uploaded to external networks, maintaining absolute privacy and zero bandwidth consumption.</a:t>
            </a:r>
          </a:p>
        </p:txBody>
      </p:sp>
      <p:sp>
        <p:nvSpPr>
          <p:cNvPr id="10" name="Rounded Rectangle 9"/>
          <p:cNvSpPr/>
          <p:nvPr/>
        </p:nvSpPr>
        <p:spPr>
          <a:xfrm>
            <a:off x="4425696" y="1828800"/>
            <a:ext cx="3328416" cy="196596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2011680"/>
            <a:ext cx="2871216" cy="411480"/>
          </a:xfrm>
          <a:prstGeom prst="rect">
            <a:avLst/>
          </a:prstGeom>
          <a:noFill/>
        </p:spPr>
        <p:txBody>
          <a:bodyPr wrap="none">
            <a:spAutoFit/>
          </a:bodyPr>
          <a:lstStyle/>
          <a:p>
            <a:pPr>
              <a:defRPr b="1" sz="1300">
                <a:solidFill>
                  <a:srgbClr val="111827"/>
                </a:solidFill>
                <a:latin typeface="Segoe UI"/>
              </a:defRPr>
            </a:pPr>
            <a:r>
              <a:t>02. High-Performance Streaming</a:t>
            </a:r>
          </a:p>
        </p:txBody>
      </p:sp>
      <p:sp>
        <p:nvSpPr>
          <p:cNvPr id="12" name="TextBox 11"/>
          <p:cNvSpPr txBox="1"/>
          <p:nvPr/>
        </p:nvSpPr>
        <p:spPr>
          <a:xfrm>
            <a:off x="4654296" y="2468880"/>
            <a:ext cx="2871216" cy="1188720"/>
          </a:xfrm>
          <a:prstGeom prst="rect">
            <a:avLst/>
          </a:prstGeom>
          <a:noFill/>
        </p:spPr>
        <p:txBody>
          <a:bodyPr wrap="square">
            <a:spAutoFit/>
          </a:bodyPr>
          <a:lstStyle/>
          <a:p>
            <a:pPr>
              <a:defRPr sz="1000">
                <a:solidFill>
                  <a:srgbClr val="555F6E"/>
                </a:solidFill>
                <a:latin typeface="Segoe UI"/>
              </a:defRPr>
            </a:pPr>
            <a:r>
              <a:t>Custom Node.js stream implementation with 64KB chunking (tunable to 4MB) and backpressure buffer management to handle files of any size without RAM bloat.</a:t>
            </a:r>
          </a:p>
        </p:txBody>
      </p:sp>
      <p:sp>
        <p:nvSpPr>
          <p:cNvPr id="13" name="Rounded Rectangle 12"/>
          <p:cNvSpPr/>
          <p:nvPr/>
        </p:nvSpPr>
        <p:spPr>
          <a:xfrm>
            <a:off x="8119872" y="1828800"/>
            <a:ext cx="3328416" cy="196596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8472" y="2011680"/>
            <a:ext cx="2871216" cy="411480"/>
          </a:xfrm>
          <a:prstGeom prst="rect">
            <a:avLst/>
          </a:prstGeom>
          <a:noFill/>
        </p:spPr>
        <p:txBody>
          <a:bodyPr wrap="none">
            <a:spAutoFit/>
          </a:bodyPr>
          <a:lstStyle/>
          <a:p>
            <a:pPr>
              <a:defRPr b="1" sz="1300">
                <a:solidFill>
                  <a:srgbClr val="111827"/>
                </a:solidFill>
                <a:latin typeface="Segoe UI"/>
              </a:defRPr>
            </a:pPr>
            <a:r>
              <a:t>03. Smart Conflict Resolution</a:t>
            </a:r>
          </a:p>
        </p:txBody>
      </p:sp>
      <p:sp>
        <p:nvSpPr>
          <p:cNvPr id="15" name="TextBox 14"/>
          <p:cNvSpPr txBox="1"/>
          <p:nvPr/>
        </p:nvSpPr>
        <p:spPr>
          <a:xfrm>
            <a:off x="8348472" y="2468880"/>
            <a:ext cx="2871216" cy="1188720"/>
          </a:xfrm>
          <a:prstGeom prst="rect">
            <a:avLst/>
          </a:prstGeom>
          <a:noFill/>
        </p:spPr>
        <p:txBody>
          <a:bodyPr wrap="square">
            <a:spAutoFit/>
          </a:bodyPr>
          <a:lstStyle/>
          <a:p>
            <a:pPr>
              <a:defRPr sz="1000">
                <a:solidFill>
                  <a:srgbClr val="555F6E"/>
                </a:solidFill>
                <a:latin typeface="Segoe UI"/>
              </a:defRPr>
            </a:pPr>
            <a:r>
              <a:t>Automatic handling of existing files via Overwrite, Skip, or Auto-Rename with incremental collision indices like 'document (1).pdf'.</a:t>
            </a:r>
          </a:p>
        </p:txBody>
      </p:sp>
      <p:sp>
        <p:nvSpPr>
          <p:cNvPr id="16" name="Rounded Rectangle 15"/>
          <p:cNvSpPr/>
          <p:nvPr/>
        </p:nvSpPr>
        <p:spPr>
          <a:xfrm>
            <a:off x="731520" y="4160520"/>
            <a:ext cx="3328416" cy="196596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343400"/>
            <a:ext cx="2871216" cy="411480"/>
          </a:xfrm>
          <a:prstGeom prst="rect">
            <a:avLst/>
          </a:prstGeom>
          <a:noFill/>
        </p:spPr>
        <p:txBody>
          <a:bodyPr wrap="none">
            <a:spAutoFit/>
          </a:bodyPr>
          <a:lstStyle/>
          <a:p>
            <a:pPr>
              <a:defRPr b="1" sz="1300">
                <a:solidFill>
                  <a:srgbClr val="111827"/>
                </a:solidFill>
                <a:latin typeface="Segoe UI"/>
              </a:defRPr>
            </a:pPr>
            <a:r>
              <a:t>04. Cross-Device EXDEV Handling</a:t>
            </a:r>
          </a:p>
        </p:txBody>
      </p:sp>
      <p:sp>
        <p:nvSpPr>
          <p:cNvPr id="18" name="TextBox 17"/>
          <p:cNvSpPr txBox="1"/>
          <p:nvPr/>
        </p:nvSpPr>
        <p:spPr>
          <a:xfrm>
            <a:off x="960120" y="4800600"/>
            <a:ext cx="2871216" cy="1188720"/>
          </a:xfrm>
          <a:prstGeom prst="rect">
            <a:avLst/>
          </a:prstGeom>
          <a:noFill/>
        </p:spPr>
        <p:txBody>
          <a:bodyPr wrap="square">
            <a:spAutoFit/>
          </a:bodyPr>
          <a:lstStyle/>
          <a:p>
            <a:pPr>
              <a:defRPr sz="1000">
                <a:solidFill>
                  <a:srgbClr val="555F6E"/>
                </a:solidFill>
                <a:latin typeface="Segoe UI"/>
              </a:defRPr>
            </a:pPr>
            <a:r>
              <a:t>Atomic 'fs.rename' for same-drive moves (instantaneous), with automatic fallback to stream-copy-unlink when spanning across separate disk partitions.</a:t>
            </a:r>
          </a:p>
        </p:txBody>
      </p:sp>
      <p:sp>
        <p:nvSpPr>
          <p:cNvPr id="19" name="Rounded Rectangle 18"/>
          <p:cNvSpPr/>
          <p:nvPr/>
        </p:nvSpPr>
        <p:spPr>
          <a:xfrm>
            <a:off x="4425696" y="4160520"/>
            <a:ext cx="3328416" cy="196596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4343400"/>
            <a:ext cx="2871216" cy="411480"/>
          </a:xfrm>
          <a:prstGeom prst="rect">
            <a:avLst/>
          </a:prstGeom>
          <a:noFill/>
        </p:spPr>
        <p:txBody>
          <a:bodyPr wrap="none">
            <a:spAutoFit/>
          </a:bodyPr>
          <a:lstStyle/>
          <a:p>
            <a:pPr>
              <a:defRPr b="1" sz="1300">
                <a:solidFill>
                  <a:srgbClr val="111827"/>
                </a:solidFill>
                <a:latin typeface="Segoe UI"/>
              </a:defRPr>
            </a:pPr>
            <a:r>
              <a:t>05. Native Filesystem Browser</a:t>
            </a:r>
          </a:p>
        </p:txBody>
      </p:sp>
      <p:sp>
        <p:nvSpPr>
          <p:cNvPr id="21" name="TextBox 20"/>
          <p:cNvSpPr txBox="1"/>
          <p:nvPr/>
        </p:nvSpPr>
        <p:spPr>
          <a:xfrm>
            <a:off x="4654296" y="4800600"/>
            <a:ext cx="2871216" cy="1188720"/>
          </a:xfrm>
          <a:prstGeom prst="rect">
            <a:avLst/>
          </a:prstGeom>
          <a:noFill/>
        </p:spPr>
        <p:txBody>
          <a:bodyPr wrap="square">
            <a:spAutoFit/>
          </a:bodyPr>
          <a:lstStyle/>
          <a:p>
            <a:pPr>
              <a:defRPr sz="1000">
                <a:solidFill>
                  <a:srgbClr val="555F6E"/>
                </a:solidFill>
                <a:latin typeface="Segoe UI"/>
              </a:defRPr>
            </a:pPr>
            <a:r>
              <a:t>Embedded folder picker modal allowing users to inspect drives (C:, D:, etc.), traverse folder hierarchies, and select targets without manual path typing.</a:t>
            </a:r>
          </a:p>
        </p:txBody>
      </p:sp>
      <p:sp>
        <p:nvSpPr>
          <p:cNvPr id="22" name="Rounded Rectangle 21"/>
          <p:cNvSpPr/>
          <p:nvPr/>
        </p:nvSpPr>
        <p:spPr>
          <a:xfrm>
            <a:off x="8119872" y="4160520"/>
            <a:ext cx="3328416" cy="196596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48472" y="4343400"/>
            <a:ext cx="2871216" cy="411480"/>
          </a:xfrm>
          <a:prstGeom prst="rect">
            <a:avLst/>
          </a:prstGeom>
          <a:noFill/>
        </p:spPr>
        <p:txBody>
          <a:bodyPr wrap="none">
            <a:spAutoFit/>
          </a:bodyPr>
          <a:lstStyle/>
          <a:p>
            <a:pPr>
              <a:defRPr b="1" sz="1300">
                <a:solidFill>
                  <a:srgbClr val="111827"/>
                </a:solidFill>
                <a:latin typeface="Segoe UI"/>
              </a:defRPr>
            </a:pPr>
            <a:r>
              <a:t>06. Live Telemetry &amp; Queueing</a:t>
            </a:r>
          </a:p>
        </p:txBody>
      </p:sp>
      <p:sp>
        <p:nvSpPr>
          <p:cNvPr id="24" name="TextBox 23"/>
          <p:cNvSpPr txBox="1"/>
          <p:nvPr/>
        </p:nvSpPr>
        <p:spPr>
          <a:xfrm>
            <a:off x="8348472" y="4800600"/>
            <a:ext cx="2871216" cy="1188720"/>
          </a:xfrm>
          <a:prstGeom prst="rect">
            <a:avLst/>
          </a:prstGeom>
          <a:noFill/>
        </p:spPr>
        <p:txBody>
          <a:bodyPr wrap="square">
            <a:spAutoFit/>
          </a:bodyPr>
          <a:lstStyle/>
          <a:p>
            <a:pPr>
              <a:defRPr sz="1000">
                <a:solidFill>
                  <a:srgbClr val="555F6E"/>
                </a:solidFill>
                <a:latin typeface="Segoe UI"/>
              </a:defRPr>
            </a:pPr>
            <a:r>
              <a:t>Concurrent transfer queue with configurable max tasks, real-time transfer speed (MB/s), ETA calculations, and full history logging.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lIns="0" rIns="0" tIns="0" bIns="0">
            <a:spAutoFit/>
          </a:bodyPr>
          <a:lstStyle/>
          <a:p>
            <a:pPr>
              <a:defRPr sz="1000" b="1">
                <a:solidFill>
                  <a:srgbClr val="6B7280"/>
                </a:solidFill>
                <a:latin typeface="Segoe UI"/>
              </a:defRPr>
            </a:pPr>
            <a:r>
              <a:t>06 / DEEP ENGINEERING</a:t>
            </a:r>
          </a:p>
        </p:txBody>
      </p:sp>
      <p:sp>
        <p:nvSpPr>
          <p:cNvPr id="4" name="TextBox 3"/>
          <p:cNvSpPr txBox="1"/>
          <p:nvPr/>
        </p:nvSpPr>
        <p:spPr>
          <a:xfrm>
            <a:off x="731520" y="777240"/>
            <a:ext cx="8686800" cy="640080"/>
          </a:xfrm>
          <a:prstGeom prst="rect">
            <a:avLst/>
          </a:prstGeom>
          <a:noFill/>
        </p:spPr>
        <p:txBody>
          <a:bodyPr wrap="square" lIns="0" rIns="0" tIns="0" bIns="0">
            <a:spAutoFit/>
          </a:bodyPr>
          <a:lstStyle/>
          <a:p>
            <a:pPr>
              <a:defRPr sz="2400" b="1">
                <a:solidFill>
                  <a:srgbClr val="111827"/>
                </a:solidFill>
                <a:latin typeface="Segoe UI"/>
              </a:defRPr>
            </a:pPr>
            <a:r>
              <a:t>STREAMING ENGINE &amp; EXDEV CROSS-DRIVE LINK</a:t>
            </a:r>
          </a:p>
        </p:txBody>
      </p:sp>
      <p:sp>
        <p:nvSpPr>
          <p:cNvPr id="5" name="TextBox 4"/>
          <p:cNvSpPr txBox="1"/>
          <p:nvPr/>
        </p:nvSpPr>
        <p:spPr>
          <a:xfrm>
            <a:off x="8961120" y="457200"/>
            <a:ext cx="2468880" cy="640080"/>
          </a:xfrm>
          <a:prstGeom prst="rect">
            <a:avLst/>
          </a:prstGeom>
          <a:noFill/>
        </p:spPr>
        <p:txBody>
          <a:bodyPr wrap="none" lIns="0" rIns="0" tIns="0" bIns="0">
            <a:spAutoFit/>
          </a:bodyPr>
          <a:lstStyle/>
          <a:p>
            <a:pPr algn="r">
              <a:defRPr sz="1000" b="1">
                <a:solidFill>
                  <a:srgbClr val="6B7280"/>
                </a:solidFill>
                <a:latin typeface="Segoe UI"/>
              </a:defRPr>
            </a:pPr>
            <a:r>
              <a:t>FILE TRANSFER AGENT // P.07</a:t>
            </a:r>
          </a:p>
        </p:txBody>
      </p:sp>
      <p:sp>
        <p:nvSpPr>
          <p:cNvPr id="6" name="Rectangle 5"/>
          <p:cNvSpPr/>
          <p:nvPr/>
        </p:nvSpPr>
        <p:spPr>
          <a:xfrm>
            <a:off x="731520" y="1508760"/>
            <a:ext cx="10728655" cy="12700"/>
          </a:xfrm>
          <a:prstGeom prst="rect">
            <a:avLst/>
          </a:prstGeom>
          <a:solidFill>
            <a:srgbClr val="E1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28800"/>
            <a:ext cx="5120640" cy="42976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03120"/>
            <a:ext cx="4572000" cy="3749039"/>
          </a:xfrm>
          <a:prstGeom prst="rect">
            <a:avLst/>
          </a:prstGeom>
          <a:noFill/>
        </p:spPr>
        <p:txBody>
          <a:bodyPr wrap="square">
            <a:spAutoFit/>
          </a:bodyPr>
          <a:lstStyle/>
          <a:p>
            <a:pPr>
              <a:defRPr b="1" sz="1500">
                <a:solidFill>
                  <a:srgbClr val="111827"/>
                </a:solidFill>
              </a:defRPr>
            </a:pPr>
            <a:r>
              <a:t>BACKPRESSURE STREAMING</a:t>
            </a:r>
          </a:p>
          <a:p>
            <a:br/>
            <a:pPr>
              <a:defRPr sz="1050">
                <a:solidFill>
                  <a:srgbClr val="4B5563"/>
                </a:solidFill>
              </a:defRPr>
            </a:pPr>
            <a:r>
              <a:t>• Problem: Reading multi-gigabyte files faster than destination disks can write causes out-of-memory crashes in Node.js.</a:t>
            </a:r>
            <a:br/>
            <a:br/>
            <a:r>
              <a:t>• Solution: Handcrafted highWaterMark chunking (64 KB default). If writeStream.write() returns false, the agent immediately invokes readStream.pause().</a:t>
            </a:r>
            <a:br/>
            <a:br/>
            <a:r>
              <a:t>• Drain Event: When the destination OS buffer empties, the writeStream triggers 'drain', resuming the readStream seamlessly.</a:t>
            </a:r>
            <a:br/>
            <a:br/>
            <a:r>
              <a:t>• Result: Constant memory footprint (~30MB) regardless of file size (100MB vs. 500GB).</a:t>
            </a:r>
          </a:p>
        </p:txBody>
      </p:sp>
      <p:sp>
        <p:nvSpPr>
          <p:cNvPr id="9" name="Rounded Rectangle 8"/>
          <p:cNvSpPr/>
          <p:nvPr/>
        </p:nvSpPr>
        <p:spPr>
          <a:xfrm>
            <a:off x="6309360" y="1828800"/>
            <a:ext cx="5120640" cy="42976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103120"/>
            <a:ext cx="4572000" cy="3749039"/>
          </a:xfrm>
          <a:prstGeom prst="rect">
            <a:avLst/>
          </a:prstGeom>
          <a:noFill/>
        </p:spPr>
        <p:txBody>
          <a:bodyPr wrap="square">
            <a:spAutoFit/>
          </a:bodyPr>
          <a:lstStyle/>
          <a:p>
            <a:pPr>
              <a:defRPr b="1" sz="1500">
                <a:solidFill>
                  <a:srgbClr val="111827"/>
                </a:solidFill>
              </a:defRPr>
            </a:pPr>
            <a:r>
              <a:t>CROSS-DEVICE (EXDEV) HANDLING</a:t>
            </a:r>
          </a:p>
          <a:p>
            <a:br/>
            <a:pPr>
              <a:defRPr sz="1050">
                <a:solidFill>
                  <a:srgbClr val="4B5563"/>
                </a:solidFill>
              </a:defRPr>
            </a:pPr>
            <a:r>
              <a:t>• Operating System Constraint: In POSIX and Windows, 'rename' is an atomic filesystem inode pointer swap that only functions within the same physical partition.</a:t>
            </a:r>
            <a:br/>
            <a:br/>
            <a:r>
              <a:t>• The EXDEV Error: Moving files from C:\ to D:\ throws 'EXDEV: cross-device link not permitted'. Most basic scripts simply crash.</a:t>
            </a:r>
            <a:br/>
            <a:br/>
            <a:r>
              <a:t>• Our Resilient Recovery: The agent catches EXDEV, seamlessly initiates a streaming copy to the destination drive, monitors progress, and unlinks the source only upon verified completion.</a:t>
            </a:r>
            <a:br/>
            <a:br/>
            <a:r>
              <a:t>• Reliability: Guarantees zero data corruption across multi-drive configurations.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lIns="0" rIns="0" tIns="0" bIns="0">
            <a:spAutoFit/>
          </a:bodyPr>
          <a:lstStyle/>
          <a:p>
            <a:pPr>
              <a:defRPr sz="1000" b="1">
                <a:solidFill>
                  <a:srgbClr val="6B7280"/>
                </a:solidFill>
                <a:latin typeface="Segoe UI"/>
              </a:defRPr>
            </a:pPr>
            <a:r>
              <a:t>07 / PERFORMANCE METRICS</a:t>
            </a:r>
          </a:p>
        </p:txBody>
      </p:sp>
      <p:sp>
        <p:nvSpPr>
          <p:cNvPr id="4" name="TextBox 3"/>
          <p:cNvSpPr txBox="1"/>
          <p:nvPr/>
        </p:nvSpPr>
        <p:spPr>
          <a:xfrm>
            <a:off x="731520" y="777240"/>
            <a:ext cx="8686800" cy="640080"/>
          </a:xfrm>
          <a:prstGeom prst="rect">
            <a:avLst/>
          </a:prstGeom>
          <a:noFill/>
        </p:spPr>
        <p:txBody>
          <a:bodyPr wrap="square" lIns="0" rIns="0" tIns="0" bIns="0">
            <a:spAutoFit/>
          </a:bodyPr>
          <a:lstStyle/>
          <a:p>
            <a:pPr>
              <a:defRPr sz="2400" b="1">
                <a:solidFill>
                  <a:srgbClr val="111827"/>
                </a:solidFill>
                <a:latin typeface="Segoe UI"/>
              </a:defRPr>
            </a:pPr>
            <a:r>
              <a:t>SPEED, MEMORY &amp; THROUGHPUT BENCHMARKS</a:t>
            </a:r>
          </a:p>
        </p:txBody>
      </p:sp>
      <p:sp>
        <p:nvSpPr>
          <p:cNvPr id="5" name="TextBox 4"/>
          <p:cNvSpPr txBox="1"/>
          <p:nvPr/>
        </p:nvSpPr>
        <p:spPr>
          <a:xfrm>
            <a:off x="8961120" y="457200"/>
            <a:ext cx="2468880" cy="640080"/>
          </a:xfrm>
          <a:prstGeom prst="rect">
            <a:avLst/>
          </a:prstGeom>
          <a:noFill/>
        </p:spPr>
        <p:txBody>
          <a:bodyPr wrap="none" lIns="0" rIns="0" tIns="0" bIns="0">
            <a:spAutoFit/>
          </a:bodyPr>
          <a:lstStyle/>
          <a:p>
            <a:pPr algn="r">
              <a:defRPr sz="1000" b="1">
                <a:solidFill>
                  <a:srgbClr val="6B7280"/>
                </a:solidFill>
                <a:latin typeface="Segoe UI"/>
              </a:defRPr>
            </a:pPr>
            <a:r>
              <a:t>FILE TRANSFER AGENT // P.08</a:t>
            </a:r>
          </a:p>
        </p:txBody>
      </p:sp>
      <p:sp>
        <p:nvSpPr>
          <p:cNvPr id="6" name="Rectangle 5"/>
          <p:cNvSpPr/>
          <p:nvPr/>
        </p:nvSpPr>
        <p:spPr>
          <a:xfrm>
            <a:off x="731520" y="1508760"/>
            <a:ext cx="10728655" cy="12700"/>
          </a:xfrm>
          <a:prstGeom prst="rect">
            <a:avLst/>
          </a:prstGeom>
          <a:solidFill>
            <a:srgbClr val="E1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828800"/>
            <a:ext cx="2468880" cy="1828800"/>
          </a:xfrm>
          <a:prstGeom prst="round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2103120" cy="548640"/>
          </a:xfrm>
          <a:prstGeom prst="rect">
            <a:avLst/>
          </a:prstGeom>
          <a:noFill/>
        </p:spPr>
        <p:txBody>
          <a:bodyPr wrap="none">
            <a:spAutoFit/>
          </a:bodyPr>
          <a:lstStyle/>
          <a:p>
            <a:pPr>
              <a:defRPr b="1" sz="2800">
                <a:solidFill>
                  <a:srgbClr val="FFFFFF"/>
                </a:solidFill>
                <a:latin typeface="Segoe UI"/>
              </a:defRPr>
            </a:pPr>
            <a:r>
              <a:t>0 B</a:t>
            </a:r>
          </a:p>
        </p:txBody>
      </p:sp>
      <p:sp>
        <p:nvSpPr>
          <p:cNvPr id="9" name="TextBox 8"/>
          <p:cNvSpPr txBox="1"/>
          <p:nvPr/>
        </p:nvSpPr>
        <p:spPr>
          <a:xfrm>
            <a:off x="914400" y="2606040"/>
            <a:ext cx="2103120" cy="274320"/>
          </a:xfrm>
          <a:prstGeom prst="rect">
            <a:avLst/>
          </a:prstGeom>
          <a:noFill/>
        </p:spPr>
        <p:txBody>
          <a:bodyPr wrap="none">
            <a:spAutoFit/>
          </a:bodyPr>
          <a:lstStyle/>
          <a:p>
            <a:pPr>
              <a:defRPr b="1" sz="950">
                <a:solidFill>
                  <a:srgbClr val="BEC3CD"/>
                </a:solidFill>
              </a:defRPr>
            </a:pPr>
            <a:r>
              <a:t>CLOUD DATA USED</a:t>
            </a:r>
          </a:p>
        </p:txBody>
      </p:sp>
      <p:sp>
        <p:nvSpPr>
          <p:cNvPr id="10" name="TextBox 9"/>
          <p:cNvSpPr txBox="1"/>
          <p:nvPr/>
        </p:nvSpPr>
        <p:spPr>
          <a:xfrm>
            <a:off x="914400" y="2926080"/>
            <a:ext cx="2103120" cy="640080"/>
          </a:xfrm>
          <a:prstGeom prst="rect">
            <a:avLst/>
          </a:prstGeom>
          <a:noFill/>
        </p:spPr>
        <p:txBody>
          <a:bodyPr wrap="square">
            <a:spAutoFit/>
          </a:bodyPr>
          <a:lstStyle/>
          <a:p>
            <a:pPr>
              <a:defRPr sz="850">
                <a:solidFill>
                  <a:srgbClr val="8C91A0"/>
                </a:solidFill>
              </a:defRPr>
            </a:pPr>
            <a:r>
              <a:t>Zero bandwidth consumed during multi-GB transfers</a:t>
            </a:r>
          </a:p>
        </p:txBody>
      </p:sp>
      <p:sp>
        <p:nvSpPr>
          <p:cNvPr id="11" name="Rounded Rectangle 10"/>
          <p:cNvSpPr/>
          <p:nvPr/>
        </p:nvSpPr>
        <p:spPr>
          <a:xfrm>
            <a:off x="3474720" y="1828800"/>
            <a:ext cx="2468880" cy="1828800"/>
          </a:xfrm>
          <a:prstGeom prst="round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2011680"/>
            <a:ext cx="2103120" cy="548640"/>
          </a:xfrm>
          <a:prstGeom prst="rect">
            <a:avLst/>
          </a:prstGeom>
          <a:noFill/>
        </p:spPr>
        <p:txBody>
          <a:bodyPr wrap="none">
            <a:spAutoFit/>
          </a:bodyPr>
          <a:lstStyle/>
          <a:p>
            <a:pPr>
              <a:defRPr b="1" sz="2800">
                <a:solidFill>
                  <a:srgbClr val="FFFFFF"/>
                </a:solidFill>
                <a:latin typeface="Segoe UI"/>
              </a:defRPr>
            </a:pPr>
            <a:r>
              <a:t>64 KB</a:t>
            </a:r>
          </a:p>
        </p:txBody>
      </p:sp>
      <p:sp>
        <p:nvSpPr>
          <p:cNvPr id="13" name="TextBox 12"/>
          <p:cNvSpPr txBox="1"/>
          <p:nvPr/>
        </p:nvSpPr>
        <p:spPr>
          <a:xfrm>
            <a:off x="3657600" y="2606040"/>
            <a:ext cx="2103120" cy="274320"/>
          </a:xfrm>
          <a:prstGeom prst="rect">
            <a:avLst/>
          </a:prstGeom>
          <a:noFill/>
        </p:spPr>
        <p:txBody>
          <a:bodyPr wrap="none">
            <a:spAutoFit/>
          </a:bodyPr>
          <a:lstStyle/>
          <a:p>
            <a:pPr>
              <a:defRPr b="1" sz="950">
                <a:solidFill>
                  <a:srgbClr val="BEC3CD"/>
                </a:solidFill>
              </a:defRPr>
            </a:pPr>
            <a:r>
              <a:t>DEFAULT CHUNK SIZE</a:t>
            </a:r>
          </a:p>
        </p:txBody>
      </p:sp>
      <p:sp>
        <p:nvSpPr>
          <p:cNvPr id="14" name="TextBox 13"/>
          <p:cNvSpPr txBox="1"/>
          <p:nvPr/>
        </p:nvSpPr>
        <p:spPr>
          <a:xfrm>
            <a:off x="3657600" y="2926080"/>
            <a:ext cx="2103120" cy="640080"/>
          </a:xfrm>
          <a:prstGeom prst="rect">
            <a:avLst/>
          </a:prstGeom>
          <a:noFill/>
        </p:spPr>
        <p:txBody>
          <a:bodyPr wrap="square">
            <a:spAutoFit/>
          </a:bodyPr>
          <a:lstStyle/>
          <a:p>
            <a:pPr>
              <a:defRPr sz="850">
                <a:solidFill>
                  <a:srgbClr val="8C91A0"/>
                </a:solidFill>
              </a:defRPr>
            </a:pPr>
            <a:r>
              <a:t>Tunable up to 4MB for high-throughput NVMe drives</a:t>
            </a:r>
          </a:p>
        </p:txBody>
      </p:sp>
      <p:sp>
        <p:nvSpPr>
          <p:cNvPr id="15" name="Rounded Rectangle 14"/>
          <p:cNvSpPr/>
          <p:nvPr/>
        </p:nvSpPr>
        <p:spPr>
          <a:xfrm>
            <a:off x="6217920" y="1828800"/>
            <a:ext cx="2468880" cy="1828800"/>
          </a:xfrm>
          <a:prstGeom prst="round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011680"/>
            <a:ext cx="2103120" cy="548640"/>
          </a:xfrm>
          <a:prstGeom prst="rect">
            <a:avLst/>
          </a:prstGeom>
          <a:noFill/>
        </p:spPr>
        <p:txBody>
          <a:bodyPr wrap="none">
            <a:spAutoFit/>
          </a:bodyPr>
          <a:lstStyle/>
          <a:p>
            <a:pPr>
              <a:defRPr b="1" sz="2800">
                <a:solidFill>
                  <a:srgbClr val="FFFFFF"/>
                </a:solidFill>
                <a:latin typeface="Segoe UI"/>
              </a:defRPr>
            </a:pPr>
            <a:r>
              <a:t>&lt; 5 ms</a:t>
            </a:r>
          </a:p>
        </p:txBody>
      </p:sp>
      <p:sp>
        <p:nvSpPr>
          <p:cNvPr id="17" name="TextBox 16"/>
          <p:cNvSpPr txBox="1"/>
          <p:nvPr/>
        </p:nvSpPr>
        <p:spPr>
          <a:xfrm>
            <a:off x="6400800" y="2606040"/>
            <a:ext cx="2103120" cy="274320"/>
          </a:xfrm>
          <a:prstGeom prst="rect">
            <a:avLst/>
          </a:prstGeom>
          <a:noFill/>
        </p:spPr>
        <p:txBody>
          <a:bodyPr wrap="none">
            <a:spAutoFit/>
          </a:bodyPr>
          <a:lstStyle/>
          <a:p>
            <a:pPr>
              <a:defRPr b="1" sz="950">
                <a:solidFill>
                  <a:srgbClr val="BEC3CD"/>
                </a:solidFill>
              </a:defRPr>
            </a:pPr>
            <a:r>
              <a:t>WEBSOCKET LATENCY</a:t>
            </a:r>
          </a:p>
        </p:txBody>
      </p:sp>
      <p:sp>
        <p:nvSpPr>
          <p:cNvPr id="18" name="TextBox 17"/>
          <p:cNvSpPr txBox="1"/>
          <p:nvPr/>
        </p:nvSpPr>
        <p:spPr>
          <a:xfrm>
            <a:off x="6400800" y="2926080"/>
            <a:ext cx="2103120" cy="640080"/>
          </a:xfrm>
          <a:prstGeom prst="rect">
            <a:avLst/>
          </a:prstGeom>
          <a:noFill/>
        </p:spPr>
        <p:txBody>
          <a:bodyPr wrap="square">
            <a:spAutoFit/>
          </a:bodyPr>
          <a:lstStyle/>
          <a:p>
            <a:pPr>
              <a:defRPr sz="850">
                <a:solidFill>
                  <a:srgbClr val="8C91A0"/>
                </a:solidFill>
              </a:defRPr>
            </a:pPr>
            <a:r>
              <a:t>Local loopback telemetry update roundtrip</a:t>
            </a:r>
          </a:p>
        </p:txBody>
      </p:sp>
      <p:sp>
        <p:nvSpPr>
          <p:cNvPr id="19" name="Rounded Rectangle 18"/>
          <p:cNvSpPr/>
          <p:nvPr/>
        </p:nvSpPr>
        <p:spPr>
          <a:xfrm>
            <a:off x="8961120" y="1828800"/>
            <a:ext cx="2468880" cy="1828800"/>
          </a:xfrm>
          <a:prstGeom prst="round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2011680"/>
            <a:ext cx="2103120" cy="548640"/>
          </a:xfrm>
          <a:prstGeom prst="rect">
            <a:avLst/>
          </a:prstGeom>
          <a:noFill/>
        </p:spPr>
        <p:txBody>
          <a:bodyPr wrap="none">
            <a:spAutoFit/>
          </a:bodyPr>
          <a:lstStyle/>
          <a:p>
            <a:pPr>
              <a:defRPr b="1" sz="2800">
                <a:solidFill>
                  <a:srgbClr val="FFFFFF"/>
                </a:solidFill>
                <a:latin typeface="Segoe UI"/>
              </a:defRPr>
            </a:pPr>
            <a:r>
              <a:t>100%</a:t>
            </a:r>
          </a:p>
        </p:txBody>
      </p:sp>
      <p:sp>
        <p:nvSpPr>
          <p:cNvPr id="21" name="TextBox 20"/>
          <p:cNvSpPr txBox="1"/>
          <p:nvPr/>
        </p:nvSpPr>
        <p:spPr>
          <a:xfrm>
            <a:off x="9144000" y="2606040"/>
            <a:ext cx="2103120" cy="274320"/>
          </a:xfrm>
          <a:prstGeom prst="rect">
            <a:avLst/>
          </a:prstGeom>
          <a:noFill/>
        </p:spPr>
        <p:txBody>
          <a:bodyPr wrap="none">
            <a:spAutoFit/>
          </a:bodyPr>
          <a:lstStyle/>
          <a:p>
            <a:pPr>
              <a:defRPr b="1" sz="950">
                <a:solidFill>
                  <a:srgbClr val="BEC3CD"/>
                </a:solidFill>
              </a:defRPr>
            </a:pPr>
            <a:r>
              <a:t>LOCAL DISK SPEED</a:t>
            </a:r>
          </a:p>
        </p:txBody>
      </p:sp>
      <p:sp>
        <p:nvSpPr>
          <p:cNvPr id="22" name="TextBox 21"/>
          <p:cNvSpPr txBox="1"/>
          <p:nvPr/>
        </p:nvSpPr>
        <p:spPr>
          <a:xfrm>
            <a:off x="9144000" y="2926080"/>
            <a:ext cx="2103120" cy="640080"/>
          </a:xfrm>
          <a:prstGeom prst="rect">
            <a:avLst/>
          </a:prstGeom>
          <a:noFill/>
        </p:spPr>
        <p:txBody>
          <a:bodyPr wrap="square">
            <a:spAutoFit/>
          </a:bodyPr>
          <a:lstStyle/>
          <a:p>
            <a:pPr>
              <a:defRPr sz="850">
                <a:solidFill>
                  <a:srgbClr val="8C91A0"/>
                </a:solidFill>
              </a:defRPr>
            </a:pPr>
            <a:r>
              <a:t>Max native bus speed utilization (up to 3500 MB/s)</a:t>
            </a:r>
          </a:p>
        </p:txBody>
      </p:sp>
      <p:sp>
        <p:nvSpPr>
          <p:cNvPr id="23" name="Rounded Rectangle 22"/>
          <p:cNvSpPr/>
          <p:nvPr/>
        </p:nvSpPr>
        <p:spPr>
          <a:xfrm>
            <a:off x="731520" y="3931920"/>
            <a:ext cx="10728655" cy="219456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114800"/>
            <a:ext cx="10180015" cy="1828800"/>
          </a:xfrm>
          <a:prstGeom prst="rect">
            <a:avLst/>
          </a:prstGeom>
          <a:noFill/>
        </p:spPr>
        <p:txBody>
          <a:bodyPr wrap="square">
            <a:spAutoFit/>
          </a:bodyPr>
          <a:lstStyle/>
          <a:p>
            <a:pPr>
              <a:defRPr b="1" sz="1300">
                <a:solidFill>
                  <a:srgbClr val="111827"/>
                </a:solidFill>
              </a:defRPr>
            </a:pPr>
            <a:r>
              <a:t>TRANSFER METHOD COMPARISON MATRIX</a:t>
            </a:r>
          </a:p>
          <a:p>
            <a:br/>
            <a:pPr>
              <a:defRPr sz="1050">
                <a:solidFill>
                  <a:srgbClr val="4B5563"/>
                </a:solidFill>
              </a:defRPr>
            </a:pPr>
            <a:r>
              <a:t>• Traditional Web Uploader (HTTP): ~15 MB/s (Limited by local network, high RAM allocation, upload limits)</a:t>
            </a:r>
            <a:br/>
            <a:r>
              <a:t>• Cloud Storage Web Client: ~25 MB/s (Limited by internet upload bandwidth, cloud storage quotas, privacy concerns)</a:t>
            </a:r>
            <a:br/>
            <a:r>
              <a:t>• OS Windows Explorer: ~400 - 2,500 MB/s (Native disk speed, but lacks remote web dashboard, queues, or custom API)</a:t>
            </a:r>
            <a:br/>
            <a:r>
              <a:t>• File Transfer Agent (Our Project): ~400 - 3,500 MB/s (Full native bus throughput + complete modern web dashboard)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320040"/>
          </a:xfrm>
          <a:prstGeom prst="rect">
            <a:avLst/>
          </a:prstGeom>
          <a:noFill/>
        </p:spPr>
        <p:txBody>
          <a:bodyPr wrap="square" lIns="0" rIns="0" tIns="0" bIns="0">
            <a:spAutoFit/>
          </a:bodyPr>
          <a:lstStyle/>
          <a:p>
            <a:pPr>
              <a:defRPr sz="1000" b="1">
                <a:solidFill>
                  <a:srgbClr val="6B7280"/>
                </a:solidFill>
                <a:latin typeface="Segoe UI"/>
              </a:defRPr>
            </a:pPr>
            <a:r>
              <a:t>08 / EXECUTION ROADMAP</a:t>
            </a:r>
          </a:p>
        </p:txBody>
      </p:sp>
      <p:sp>
        <p:nvSpPr>
          <p:cNvPr id="4" name="TextBox 3"/>
          <p:cNvSpPr txBox="1"/>
          <p:nvPr/>
        </p:nvSpPr>
        <p:spPr>
          <a:xfrm>
            <a:off x="731520" y="777240"/>
            <a:ext cx="8686800" cy="640080"/>
          </a:xfrm>
          <a:prstGeom prst="rect">
            <a:avLst/>
          </a:prstGeom>
          <a:noFill/>
        </p:spPr>
        <p:txBody>
          <a:bodyPr wrap="square" lIns="0" rIns="0" tIns="0" bIns="0">
            <a:spAutoFit/>
          </a:bodyPr>
          <a:lstStyle/>
          <a:p>
            <a:pPr>
              <a:defRPr sz="2400" b="1">
                <a:solidFill>
                  <a:srgbClr val="111827"/>
                </a:solidFill>
                <a:latin typeface="Segoe UI"/>
              </a:defRPr>
            </a:pPr>
            <a:r>
              <a:t>MILESTONES &amp; FUTURE ENHANCEMENTS</a:t>
            </a:r>
          </a:p>
        </p:txBody>
      </p:sp>
      <p:sp>
        <p:nvSpPr>
          <p:cNvPr id="5" name="TextBox 4"/>
          <p:cNvSpPr txBox="1"/>
          <p:nvPr/>
        </p:nvSpPr>
        <p:spPr>
          <a:xfrm>
            <a:off x="8961120" y="457200"/>
            <a:ext cx="2468880" cy="640080"/>
          </a:xfrm>
          <a:prstGeom prst="rect">
            <a:avLst/>
          </a:prstGeom>
          <a:noFill/>
        </p:spPr>
        <p:txBody>
          <a:bodyPr wrap="none" lIns="0" rIns="0" tIns="0" bIns="0">
            <a:spAutoFit/>
          </a:bodyPr>
          <a:lstStyle/>
          <a:p>
            <a:pPr algn="r">
              <a:defRPr sz="1000" b="1">
                <a:solidFill>
                  <a:srgbClr val="6B7280"/>
                </a:solidFill>
                <a:latin typeface="Segoe UI"/>
              </a:defRPr>
            </a:pPr>
            <a:r>
              <a:t>FILE TRANSFER AGENT // P.09</a:t>
            </a:r>
          </a:p>
        </p:txBody>
      </p:sp>
      <p:sp>
        <p:nvSpPr>
          <p:cNvPr id="6" name="Rectangle 5"/>
          <p:cNvSpPr/>
          <p:nvPr/>
        </p:nvSpPr>
        <p:spPr>
          <a:xfrm>
            <a:off x="731520" y="1508760"/>
            <a:ext cx="10728655" cy="12700"/>
          </a:xfrm>
          <a:prstGeom prst="rect">
            <a:avLst/>
          </a:prstGeom>
          <a:solidFill>
            <a:srgbClr val="E1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2926080"/>
            <a:ext cx="9448495" cy="38100"/>
          </a:xfrm>
          <a:prstGeom prst="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920240" y="2816352"/>
            <a:ext cx="274320" cy="274320"/>
          </a:xfrm>
          <a:prstGeom prst="ellipse">
            <a:avLst/>
          </a:prstGeom>
          <a:solidFill>
            <a:srgbClr val="121214"/>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17320" y="2103120"/>
            <a:ext cx="1280160" cy="411480"/>
          </a:xfrm>
          <a:prstGeom prst="roundRect">
            <a:avLst/>
          </a:prstGeom>
          <a:solidFill>
            <a:srgbClr val="FFFFFF"/>
          </a:solidFill>
          <a:ln w="19050">
            <a:solidFill>
              <a:srgbClr val="12121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121214"/>
                </a:solidFill>
              </a:defRPr>
            </a:pPr>
            <a:r>
              <a:t>PHASE 1</a:t>
            </a:r>
          </a:p>
        </p:txBody>
      </p:sp>
      <p:sp>
        <p:nvSpPr>
          <p:cNvPr id="10" name="Rounded Rectangle 9"/>
          <p:cNvSpPr/>
          <p:nvPr/>
        </p:nvSpPr>
        <p:spPr>
          <a:xfrm>
            <a:off x="914400" y="3474720"/>
            <a:ext cx="2377440" cy="24688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657600"/>
            <a:ext cx="2011680" cy="2103120"/>
          </a:xfrm>
          <a:prstGeom prst="rect">
            <a:avLst/>
          </a:prstGeom>
          <a:noFill/>
        </p:spPr>
        <p:txBody>
          <a:bodyPr wrap="square">
            <a:spAutoFit/>
          </a:bodyPr>
          <a:lstStyle/>
          <a:p>
            <a:pPr>
              <a:defRPr b="1" sz="1300">
                <a:solidFill>
                  <a:srgbClr val="111827"/>
                </a:solidFill>
              </a:defRPr>
            </a:pPr>
            <a:r>
              <a:t>Core Architecture</a:t>
            </a:r>
          </a:p>
          <a:p>
            <a:br/>
            <a:pPr>
              <a:defRPr sz="950">
                <a:solidFill>
                  <a:srgbClr val="4B5563"/>
                </a:solidFill>
              </a:defRPr>
            </a:pPr>
            <a:r>
              <a:t>WebSocket RPC protocol, Node.js streaming engine, basic copy/move, backpressure stream pausing.</a:t>
            </a:r>
          </a:p>
        </p:txBody>
      </p:sp>
      <p:sp>
        <p:nvSpPr>
          <p:cNvPr id="12" name="Oval 11"/>
          <p:cNvSpPr/>
          <p:nvPr/>
        </p:nvSpPr>
        <p:spPr>
          <a:xfrm>
            <a:off x="4617720" y="2816352"/>
            <a:ext cx="274320" cy="274320"/>
          </a:xfrm>
          <a:prstGeom prst="ellipse">
            <a:avLst/>
          </a:prstGeom>
          <a:solidFill>
            <a:srgbClr val="121214"/>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0" y="2103120"/>
            <a:ext cx="1280160" cy="411480"/>
          </a:xfrm>
          <a:prstGeom prst="roundRect">
            <a:avLst/>
          </a:prstGeom>
          <a:solidFill>
            <a:srgbClr val="FFFFFF"/>
          </a:solidFill>
          <a:ln w="19050">
            <a:solidFill>
              <a:srgbClr val="12121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121214"/>
                </a:solidFill>
              </a:defRPr>
            </a:pPr>
            <a:r>
              <a:t>PHASE 2</a:t>
            </a:r>
          </a:p>
        </p:txBody>
      </p:sp>
      <p:sp>
        <p:nvSpPr>
          <p:cNvPr id="14" name="Rounded Rectangle 13"/>
          <p:cNvSpPr/>
          <p:nvPr/>
        </p:nvSpPr>
        <p:spPr>
          <a:xfrm>
            <a:off x="3611880" y="3474720"/>
            <a:ext cx="2377440" cy="24688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94760" y="3657600"/>
            <a:ext cx="2011680" cy="2103120"/>
          </a:xfrm>
          <a:prstGeom prst="rect">
            <a:avLst/>
          </a:prstGeom>
          <a:noFill/>
        </p:spPr>
        <p:txBody>
          <a:bodyPr wrap="square">
            <a:spAutoFit/>
          </a:bodyPr>
          <a:lstStyle/>
          <a:p>
            <a:pPr>
              <a:defRPr b="1" sz="1300">
                <a:solidFill>
                  <a:srgbClr val="111827"/>
                </a:solidFill>
              </a:defRPr>
            </a:pPr>
            <a:r>
              <a:t>Web Dashboard</a:t>
            </a:r>
          </a:p>
          <a:p>
            <a:br/>
            <a:pPr>
              <a:defRPr sz="950">
                <a:solidFill>
                  <a:srgbClr val="4B5563"/>
                </a:solidFill>
              </a:defRPr>
            </a:pPr>
            <a:r>
              <a:t>React 18 frontend, Tailwind CSS dark/light theme, drive browser modal, conflict resolution dialog.</a:t>
            </a:r>
          </a:p>
        </p:txBody>
      </p:sp>
      <p:sp>
        <p:nvSpPr>
          <p:cNvPr id="16" name="Oval 15"/>
          <p:cNvSpPr/>
          <p:nvPr/>
        </p:nvSpPr>
        <p:spPr>
          <a:xfrm>
            <a:off x="7315200" y="2816352"/>
            <a:ext cx="274320" cy="274320"/>
          </a:xfrm>
          <a:prstGeom prst="ellipse">
            <a:avLst/>
          </a:prstGeom>
          <a:solidFill>
            <a:srgbClr val="121214"/>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12280" y="2103120"/>
            <a:ext cx="1280160" cy="411480"/>
          </a:xfrm>
          <a:prstGeom prst="roundRect">
            <a:avLst/>
          </a:prstGeom>
          <a:solidFill>
            <a:srgbClr val="FFFFFF"/>
          </a:solidFill>
          <a:ln w="19050">
            <a:solidFill>
              <a:srgbClr val="12121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121214"/>
                </a:solidFill>
              </a:defRPr>
            </a:pPr>
            <a:r>
              <a:t>PHASE 3</a:t>
            </a:r>
          </a:p>
        </p:txBody>
      </p:sp>
      <p:sp>
        <p:nvSpPr>
          <p:cNvPr id="18" name="Rounded Rectangle 17"/>
          <p:cNvSpPr/>
          <p:nvPr/>
        </p:nvSpPr>
        <p:spPr>
          <a:xfrm>
            <a:off x="6309360" y="3474720"/>
            <a:ext cx="2377440" cy="24688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3657600"/>
            <a:ext cx="2011680" cy="2103120"/>
          </a:xfrm>
          <a:prstGeom prst="rect">
            <a:avLst/>
          </a:prstGeom>
          <a:noFill/>
        </p:spPr>
        <p:txBody>
          <a:bodyPr wrap="square">
            <a:spAutoFit/>
          </a:bodyPr>
          <a:lstStyle/>
          <a:p>
            <a:pPr>
              <a:defRPr b="1" sz="1300">
                <a:solidFill>
                  <a:srgbClr val="111827"/>
                </a:solidFill>
              </a:defRPr>
            </a:pPr>
            <a:r>
              <a:t>Resilience &amp; Security</a:t>
            </a:r>
          </a:p>
          <a:p>
            <a:br/>
            <a:pPr>
              <a:defRPr sz="950">
                <a:solidFill>
                  <a:srgbClr val="4B5563"/>
                </a:solidFill>
              </a:defRPr>
            </a:pPr>
            <a:r>
              <a:t>EXDEV cross-device link recovery, SHA-256 token authentication, path whitelist sandboxing, git release.</a:t>
            </a:r>
          </a:p>
        </p:txBody>
      </p:sp>
      <p:sp>
        <p:nvSpPr>
          <p:cNvPr id="20" name="Oval 19"/>
          <p:cNvSpPr/>
          <p:nvPr/>
        </p:nvSpPr>
        <p:spPr>
          <a:xfrm>
            <a:off x="10012680" y="2816352"/>
            <a:ext cx="274320" cy="274320"/>
          </a:xfrm>
          <a:prstGeom prst="ellipse">
            <a:avLst/>
          </a:prstGeom>
          <a:solidFill>
            <a:srgbClr val="121214"/>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09760" y="2103120"/>
            <a:ext cx="1280160" cy="411480"/>
          </a:xfrm>
          <a:prstGeom prst="roundRect">
            <a:avLst/>
          </a:prstGeom>
          <a:solidFill>
            <a:srgbClr val="FFFFFF"/>
          </a:solidFill>
          <a:ln w="19050">
            <a:solidFill>
              <a:srgbClr val="12121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121214"/>
                </a:solidFill>
              </a:defRPr>
            </a:pPr>
            <a:r>
              <a:t>PHASE 4</a:t>
            </a:r>
          </a:p>
        </p:txBody>
      </p:sp>
      <p:sp>
        <p:nvSpPr>
          <p:cNvPr id="22" name="Rounded Rectangle 21"/>
          <p:cNvSpPr/>
          <p:nvPr/>
        </p:nvSpPr>
        <p:spPr>
          <a:xfrm>
            <a:off x="9006840" y="3474720"/>
            <a:ext cx="2377440" cy="2468880"/>
          </a:xfrm>
          <a:prstGeom prst="roundRect">
            <a:avLst/>
          </a:prstGeom>
          <a:solidFill>
            <a:srgbClr val="FFFFFF"/>
          </a:solidFill>
          <a:ln w="19050">
            <a:solidFill>
              <a:srgbClr val="E1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9720" y="3657600"/>
            <a:ext cx="2011680" cy="2103120"/>
          </a:xfrm>
          <a:prstGeom prst="rect">
            <a:avLst/>
          </a:prstGeom>
          <a:noFill/>
        </p:spPr>
        <p:txBody>
          <a:bodyPr wrap="square">
            <a:spAutoFit/>
          </a:bodyPr>
          <a:lstStyle/>
          <a:p>
            <a:pPr>
              <a:defRPr b="1" sz="1300">
                <a:solidFill>
                  <a:srgbClr val="111827"/>
                </a:solidFill>
              </a:defRPr>
            </a:pPr>
            <a:r>
              <a:t>Future Scope</a:t>
            </a:r>
          </a:p>
          <a:p>
            <a:br/>
            <a:pPr>
              <a:defRPr sz="950">
                <a:solidFill>
                  <a:srgbClr val="4B5563"/>
                </a:solidFill>
              </a:defRPr>
            </a:pPr>
            <a:r>
              <a:t>P2P LAN auto-discovery, SHA-256 chunk-level resume on interrupt, background system service runner.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ccent_rings.png"/>
          <p:cNvPicPr>
            <a:picLocks noChangeAspect="1"/>
          </p:cNvPicPr>
          <p:nvPr/>
        </p:nvPicPr>
        <p:blipFill>
          <a:blip r:embed="rId2"/>
          <a:stretch>
            <a:fillRect/>
          </a:stretch>
        </p:blipFill>
        <p:spPr>
          <a:xfrm>
            <a:off x="-1828800" y="1371600"/>
            <a:ext cx="5943600" cy="5943600"/>
          </a:xfrm>
          <a:prstGeom prst="rect">
            <a:avLst/>
          </a:prstGeom>
        </p:spPr>
      </p:pic>
      <p:sp>
        <p:nvSpPr>
          <p:cNvPr id="4" name="Rounded Rectangle 3"/>
          <p:cNvSpPr/>
          <p:nvPr/>
        </p:nvSpPr>
        <p:spPr>
          <a:xfrm>
            <a:off x="731520" y="731520"/>
            <a:ext cx="1645920" cy="365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121214"/>
                </a:solidFill>
              </a:defRPr>
            </a:pPr>
            <a:r>
              <a:t>CONCLUSION</a:t>
            </a:r>
          </a:p>
        </p:txBody>
      </p:sp>
      <p:sp>
        <p:nvSpPr>
          <p:cNvPr id="5" name="TextBox 4"/>
          <p:cNvSpPr txBox="1"/>
          <p:nvPr/>
        </p:nvSpPr>
        <p:spPr>
          <a:xfrm>
            <a:off x="731520" y="1645920"/>
            <a:ext cx="9601200" cy="1828800"/>
          </a:xfrm>
          <a:prstGeom prst="rect">
            <a:avLst/>
          </a:prstGeom>
          <a:noFill/>
        </p:spPr>
        <p:txBody>
          <a:bodyPr wrap="square">
            <a:spAutoFit/>
          </a:bodyPr>
          <a:lstStyle/>
          <a:p>
            <a:pPr>
              <a:defRPr b="1" sz="4400">
                <a:solidFill>
                  <a:srgbClr val="FFFFFF"/>
                </a:solidFill>
              </a:defRPr>
            </a:pPr>
            <a:r>
              <a:t>BRIDGING WEB ELEGANCE &amp;</a:t>
            </a:r>
            <a:br/>
            <a:r>
              <a:t>NATIVE FILESYSTEM SPEED</a:t>
            </a:r>
          </a:p>
        </p:txBody>
      </p:sp>
      <p:sp>
        <p:nvSpPr>
          <p:cNvPr id="6" name="Rounded Rectangle 5"/>
          <p:cNvSpPr/>
          <p:nvPr/>
        </p:nvSpPr>
        <p:spPr>
          <a:xfrm>
            <a:off x="731520" y="3840480"/>
            <a:ext cx="10728655" cy="2194560"/>
          </a:xfrm>
          <a:prstGeom prst="roundRect">
            <a:avLst/>
          </a:prstGeom>
          <a:solidFill>
            <a:srgbClr val="1C1C20"/>
          </a:solidFill>
          <a:ln w="12700">
            <a:solidFill>
              <a:srgbClr val="323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023360"/>
            <a:ext cx="10180015" cy="1828800"/>
          </a:xfrm>
          <a:prstGeom prst="rect">
            <a:avLst/>
          </a:prstGeom>
          <a:noFill/>
        </p:spPr>
        <p:txBody>
          <a:bodyPr wrap="square">
            <a:spAutoFit/>
          </a:bodyPr>
          <a:lstStyle/>
          <a:p>
            <a:pPr>
              <a:defRPr b="1" sz="1400">
                <a:solidFill>
                  <a:srgbClr val="FFFFFF"/>
                </a:solidFill>
              </a:defRPr>
            </a:pPr>
            <a:r>
              <a:t>KEY TAKEAWAYS &amp; PROJECT STATUS</a:t>
            </a:r>
          </a:p>
          <a:p>
            <a:br/>
            <a:pPr>
              <a:defRPr sz="1100">
                <a:solidFill>
                  <a:srgbClr val="C8CDD7"/>
                </a:solidFill>
              </a:defRPr>
            </a:pPr>
            <a:r>
              <a:t>1. Complete Decoupling: Browser provides zero-upload UI controls while local Node agent delivers high-performance I/O.</a:t>
            </a:r>
            <a:br/>
            <a:r>
              <a:t>2. Production-Grade Robustness: Handles backpressure, EXDEV cross-device partitions, file collisions, and graceful cancellation.</a:t>
            </a:r>
            <a:br/>
            <a:r>
              <a:t>3. Open Source &amp; Extensible: Fully documented, typed with TypeScript, tested, and pushed live to GitHub.</a:t>
            </a:r>
          </a:p>
          <a:p>
            <a:br/>
            <a:pPr>
              <a:defRPr b="1" sz="1100">
                <a:solidFill>
                  <a:srgbClr val="8CC8FF"/>
                </a:solidFill>
              </a:defRPr>
            </a:pPr>
            <a:r>
              <a:t>GitHub Repository: https://github.com/yashupadhyay1979-droid/Copy-Move-via-Web-Application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